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7878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 — TITLE (45 seconds)</a:t>
            </a:r>
          </a:p>
          <a:p>
            <a:r>
              <a:t>I'm Shahzad Muhammad from Mississauga, Canada.</a:t>
            </a:r>
          </a:p>
          <a:p>
            <a:r>
              <a:t>Alfalah means Come to Success in Arabic. This platform delivers 20 AI career tools</a:t>
            </a:r>
          </a:p>
          <a:p>
            <a:r>
              <a:t>to professionals in 195 countries — completely free, no login, no data stored.</a:t>
            </a:r>
          </a:p>
          <a:p>
            <a:r>
              <a:t>100% built on Microsoft Azure. Live now at govrag-v3-func.azurewebsites.net.</a:t>
            </a:r>
          </a:p>
          <a:p>
            <a:r>
              <a:t>[Point to screenshot on the right — this is the real live platform]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 — INNOVATION (60 seconds)</a:t>
            </a:r>
          </a:p>
          <a:p>
            <a:r>
              <a:t>The career guidance industry is broken for most of humanity.</a:t>
            </a:r>
          </a:p>
          <a:p>
            <a:r>
              <a:t>1.4 billion unemployed. 87% with zero guidance. 75% ATS-rejected before a human reads them.</a:t>
            </a:r>
          </a:p>
          <a:p>
            <a:r>
              <a:t>Career coaching is $200-500/hr — a month's salary in most countries.</a:t>
            </a:r>
          </a:p>
          <a:p>
            <a:r>
              <a:t>Our solution: 20 AI tools, 195 countries, 15 seconds, zero cost. For everyone.</a:t>
            </a:r>
          </a:p>
          <a:p>
            <a:r>
              <a:t>No login. No storage. No paywall. This has never existed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3 — PERFORMANCE (90 seconds)</a:t>
            </a:r>
          </a:p>
          <a:p>
            <a:r>
              <a:t>Five steps. 15 seconds total.</a:t>
            </a:r>
          </a:p>
          <a:p>
            <a:r>
              <a:t>Step 0: Azure Content Safety screens the resume — under 200ms.</a:t>
            </a:r>
          </a:p>
          <a:p>
            <a:r>
              <a:t>Steps 1-3: Pure Python algorithms — parse, score, ATS match. Zero AI cost.</a:t>
            </a:r>
          </a:p>
          <a:p>
            <a:r>
              <a:t>Step 4: Azure AI Search retrieves 7 relevant chunks from 289 indexed — under 150ms.</a:t>
            </a:r>
          </a:p>
          <a:p>
            <a:r>
              <a:t>Step 5: ThreadPoolExecutor fires 4 Azure OpenAI calls simultaneously.</a:t>
            </a:r>
          </a:p>
          <a:p>
            <a:r>
              <a:t>All 4 calls run in parallel — not sequential. That's why we hit 15 seconds for 20 tools.</a:t>
            </a:r>
          </a:p>
          <a:p>
            <a:r>
              <a:t>Azure Functions Consumption Plan SLA: 99.95% uptime. Auto-scales to zero, scales to millions.</a:t>
            </a:r>
          </a:p>
          <a:p>
            <a:r>
              <a:t>[Show govrag-v3-func.azurewebsites.net/api/health in browser]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4 — BREADTH OF AZURE (60 seconds)</a:t>
            </a:r>
          </a:p>
          <a:p>
            <a:r>
              <a:t>Seven Azure services, all in production, all interconnected.</a:t>
            </a:r>
          </a:p>
          <a:p>
            <a:r>
              <a:t>Azure Functions: the backbone — 10 endpoints, serverless, auto-scale.</a:t>
            </a:r>
          </a:p>
          <a:p>
            <a:r>
              <a:t>Azure OpenAI: 4 parallel calls via ThreadPoolExecutor — the innovation that hits 15 seconds.</a:t>
            </a:r>
          </a:p>
          <a:p>
            <a:r>
              <a:t>Azure AI Search: 289 RAG chunks, semantic retrieval — facts before AI writes anything.</a:t>
            </a:r>
          </a:p>
          <a:p>
            <a:r>
              <a:t>Azure Content Safety: every single input screened before any AI processing.</a:t>
            </a:r>
          </a:p>
          <a:p>
            <a:r>
              <a:t>Azure Key Vault with Managed Identity: zero credentials anywhere in the codebase.</a:t>
            </a:r>
          </a:p>
          <a:p>
            <a:r>
              <a:t>Application Insights: full telemetry — latency, errors, RAG usage.</a:t>
            </a:r>
          </a:p>
          <a:p>
            <a:r>
              <a:t>Azure Monitor: SLA tracking, cost alerts, resource health on rg-v3.</a:t>
            </a:r>
          </a:p>
          <a:p>
            <a:r>
              <a:t>This is not a demo — all 7 services are live and active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5 — 20 TOOLS (60 seconds)</a:t>
            </a:r>
          </a:p>
          <a:p>
            <a:r>
              <a:t>Twenty professional career outputs from a single analysis.</a:t>
            </a:r>
          </a:p>
          <a:p>
            <a:r>
              <a:t>Each tool is a complete deliverable — not a summary.</a:t>
            </a:r>
          </a:p>
          <a:p>
            <a:r>
              <a:t>The Resume Score uses 8 weighted dimensions: content, impact, ATS, format, length, recency, keywords, structure.</a:t>
            </a:r>
          </a:p>
          <a:p>
            <a:r>
              <a:t>The Visa Pathways gives EVERY immigration route with official government URLs — not guesses.</a:t>
            </a:r>
          </a:p>
          <a:p>
            <a:r>
              <a:t>The Salary Negotiation gives word-for-word scripts from Entry level to VP.</a:t>
            </a:r>
          </a:p>
          <a:p>
            <a:r>
              <a:t>This is what a $500/hour career coach produces. In 15 seconds. Free. For 195 countries.</a:t>
            </a:r>
          </a:p>
          <a:p>
            <a:r>
              <a:t>[Demo: show the live results dashboard scrolling through all 20 tools]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6 — LIVE DEMO (2-3 minutes — THIS IS THE MOST IMPORTANT PART)</a:t>
            </a:r>
          </a:p>
          <a:p>
            <a:r>
              <a:t>[Open browser: govrag-v3-func.azurewebsites.net]</a:t>
            </a:r>
          </a:p>
          <a:p>
            <a:r>
              <a:t>Step 1: Show the platform loading. No login screen. IP detects country.</a:t>
            </a:r>
          </a:p>
          <a:p>
            <a:r>
              <a:t>Step 2: Upload a sample resume — PDF file. Show it extracts text instantly.</a:t>
            </a:r>
          </a:p>
          <a:p>
            <a:r>
              <a:t>Step 3: Paste a job description into the second box.</a:t>
            </a:r>
          </a:p>
          <a:p>
            <a:r>
              <a:t>Step 4: Click Analyze. Show the loading state — 4 parallel Azure calls are firing right now.</a:t>
            </a:r>
          </a:p>
          <a:p>
            <a:r>
              <a:t>Step 5: Scroll through results — Resume Score shows 8 dimensions. Recruiter POV is brutal and specific.</a:t>
            </a:r>
          </a:p>
          <a:p>
            <a:r>
              <a:t>Show Visa Pathways — official government URLs, not guesses.</a:t>
            </a:r>
          </a:p>
          <a:p>
            <a:r>
              <a:t>Show Salary Negotiation — local currency, market ranges, word-for-word scripts.</a:t>
            </a:r>
          </a:p>
          <a:p>
            <a:r>
              <a:t>Step 6: Open /api/health in a new tab — show Azure services status live.</a:t>
            </a:r>
          </a:p>
          <a:p>
            <a:r>
              <a:t>[Key message: this is all real, all live, all Azure, all free]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7 — RESPONSIBLE AI (75 seconds)</a:t>
            </a:r>
          </a:p>
          <a:p>
            <a:r>
              <a:t>We implemented Microsoft Responsible AI Standard v2 end-to-end — all 6 principles.</a:t>
            </a:r>
          </a:p>
          <a:p>
            <a:r>
              <a:t>The 3-gate pipeline is the key: every request hits Content Safety before any AI call.</a:t>
            </a:r>
          </a:p>
          <a:p>
            <a:r>
              <a:t>Gate 1: Azure Content Safety screens for Hate, Violence, Self-Harm, Sexual — severity 4 threshold.</a:t>
            </a:r>
          </a:p>
          <a:p>
            <a:r>
              <a:t>Gate 2: RAG grounding — AI can only write what our knowledge base confirms. Facts first.</a:t>
            </a:r>
          </a:p>
          <a:p>
            <a:r>
              <a:t>Gate 3: Every output must cite sources. Hallucination rate target under 5%.</a:t>
            </a:r>
          </a:p>
          <a:p>
            <a:r>
              <a:t>Privacy is by ARCHITECTURE not just policy: zero database, zero storage, zero cookies.</a:t>
            </a:r>
          </a:p>
          <a:p>
            <a:r>
              <a:t>Refresh the page — your resume is gone from server memory. Forever. By design.</a:t>
            </a:r>
          </a:p>
          <a:p>
            <a:r>
              <a:t>Full documentation in the repo: RESPONSIBLE_AI_IMPACT_ASSESSMENT.md and TRANSPARENCY_NOTE.md</a:t>
            </a:r>
          </a:p>
          <a:p>
            <a:r>
              <a:t>[Show /responsible-ai endpoint in browser]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 — GITHUB (45 seconds)</a:t>
            </a:r>
          </a:p>
          <a:p>
            <a:r>
              <a:t>[Open github.com/shahzadms7/v3 in browser]</a:t>
            </a:r>
          </a:p>
          <a:p>
            <a:r>
              <a:t>Show the repo is public, clean, professional.</a:t>
            </a:r>
          </a:p>
          <a:p>
            <a:r>
              <a:t>function_app.py is 887 lines — all 10 endpoints in one file, Azure Functions v2 decorator model.</a:t>
            </a:r>
          </a:p>
          <a:p>
            <a:r>
              <a:t>Point out: no heavy ML packages, no PyTorch, no transformers — pure httpx + azure SDK.</a:t>
            </a:r>
          </a:p>
          <a:p>
            <a:r>
              <a:t>Show the .github/workflows — CI/CD deploys on every push to main in under 2 minutes.</a:t>
            </a:r>
          </a:p>
          <a:p>
            <a:r>
              <a:t>Show the docs/ folder — RESPONSIBLE_AI_IMPACT_ASSESSMENT.md and TRANSPARENCY_NOTE.md.</a:t>
            </a:r>
          </a:p>
          <a:p>
            <a:r>
              <a:t>Show ARCHITECTURE.md — full Mermaid diagrams, 20-tool execution map.</a:t>
            </a:r>
          </a:p>
          <a:p>
            <a:r>
              <a:t>Everything a judge needs to evaluate all 4 criteria is linked from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 — CLOSE (30 seconds)</a:t>
            </a:r>
          </a:p>
          <a:p>
            <a:r>
              <a:t>Four criteria. Four full scores. Let me be direct about why.</a:t>
            </a:r>
          </a:p>
          <a:p>
            <a:r>
              <a:t>Performance: live platform, 15-second response, 4 parallel Azure calls, 99.95% SLA.</a:t>
            </a:r>
          </a:p>
          <a:p>
            <a:r>
              <a:t>Innovation: 20 tools in one call, free for 8 billion, zero storage by architecture — no one else does this.</a:t>
            </a:r>
          </a:p>
          <a:p>
            <a:r>
              <a:t>Azure Breadth: 7 Azure services all in production in rg-v3 East US — not a demo, all live.</a:t>
            </a:r>
          </a:p>
          <a:p>
            <a:r>
              <a:t>Responsible AI: Microsoft RAI Standard v2 end-to-end, 3-gate safety, full docs in the repo.</a:t>
            </a:r>
          </a:p>
          <a:p>
            <a:r>
              <a:t>Platform is live right now. Code is public. Documentation is thorough.</a:t>
            </a:r>
          </a:p>
          <a:p>
            <a:r>
              <a:t>Alfalah. Come to Success. For every human on Earth.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583680" cy="6858000"/>
          </a:xfrm>
          <a:prstGeom prst="rect">
            <a:avLst/>
          </a:prstGeom>
          <a:solidFill>
            <a:srgbClr val="0F0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27432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ALFALAH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FB900"/>
                </a:solidFill>
              </a:rPr>
              <a:t>الفلاح  —  Come to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6304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FF"/>
                </a:solidFill>
              </a:rPr>
              <a:t>Career Intelligence Platform · 100% Microsoft Azure · Free Forever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7088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47088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088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9856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19856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RAG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2103120"/>
            <a:ext cx="1417320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92624" y="2121408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7860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Cost Forever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38328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B900"/>
                </a:solidFill>
              </a:rPr>
              <a:t>govrag-v3-func.azurewebsites.net  |  github.com/shahzadms7/v3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84048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DD"/>
                </a:solidFill>
              </a:rPr>
              <a:t>Microsoft AI Skills Challenge  ·  Innovation Challenge  ·  March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251960"/>
            <a:ext cx="6035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8AADD"/>
                </a:solidFill>
              </a:rPr>
              <a:t>Shahzad Muhammad  </a:t>
            </a:r>
            <a:r>
              <a:rPr lang="en-CA" sz="1200" b="0" i="0" dirty="0">
                <a:solidFill>
                  <a:srgbClr val="88AADD"/>
                </a:solidFill>
              </a:rPr>
              <a:t>/ Zara Irfan </a:t>
            </a:r>
            <a:r>
              <a:rPr sz="1200" b="0" i="0" dirty="0">
                <a:solidFill>
                  <a:srgbClr val="88AADD"/>
                </a:solidFill>
              </a:rPr>
              <a:t>· Canada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846320"/>
            <a:ext cx="6035040" cy="822960"/>
          </a:xfrm>
          <a:prstGeom prst="rect">
            <a:avLst/>
          </a:prstGeom>
          <a:solidFill>
            <a:srgbClr val="1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892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B900"/>
                </a:solidFill>
              </a:rPr>
              <a:t>JUDGING CRITERIA  ·  Each worth 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523036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Performance  ·  Innovation  ·  Breadth of Azure Services  ·  Responsible AI</a:t>
            </a:r>
          </a:p>
        </p:txBody>
      </p:sp>
      <p:pic>
        <p:nvPicPr>
          <p:cNvPr id="24" name="Picture 23" descr="screencapture-govrag-v3-func-azurewebsites-net-2026-03-26-16_24_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37160"/>
            <a:ext cx="539496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INNOVATION  25%  —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91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AAAA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5394960" cy="5303520"/>
          </a:xfrm>
          <a:prstGeom prst="rect">
            <a:avLst/>
          </a:prstGeom>
          <a:solidFill>
            <a:srgbClr val="1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666"/>
                </a:solidFill>
              </a:rPr>
              <a:t>THE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1.4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people unemployed / underemployed  (ILO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4028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2402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3317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of emerging-market job seekers — ZERO professional guidance ever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of resumes rejected by ATS before a human reads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977639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977639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$200–$500/hr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6907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is what career coaches charge — unaffordable for most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46320"/>
            <a:ext cx="1371600" cy="68580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48463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3–5 nations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59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is what all career tools are built for — not 195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777240"/>
            <a:ext cx="5943600" cy="5303520"/>
          </a:xfrm>
          <a:prstGeom prst="rect">
            <a:avLst/>
          </a:prstGeom>
          <a:solidFill>
            <a:srgbClr val="0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8229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0FA7B"/>
                </a:solidFill>
              </a:rPr>
              <a:t>THE ALFALAH AI SOLUTION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37160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137160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20 AI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14630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in ONE analysis — resume to job offer, end to 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24028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5040" y="224028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195 Countries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3172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equal treatment — salary, visa, labor law for 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10896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35040" y="310896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15 seconds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20040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from upload to 20 professional outputs — 4 parallel Azure calls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3977639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35040" y="3977639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$0 forever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06907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no login · no account · no data stored · no paywall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4846320"/>
            <a:ext cx="1645920" cy="685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846320"/>
            <a:ext cx="1645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35 knowledge files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937759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FFCC"/>
                </a:solidFill>
              </a:rPr>
              <a:t>RAG engine — facts first, AI formats — zero hallucination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No other platform delivers this scope, this freely, to this many people — anywhere in the world.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PERFORMANCE  25%  —  HOW IT RUNS IN 15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91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CC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2103120" cy="1097280"/>
          </a:xfrm>
          <a:prstGeom prst="rect">
            <a:avLst/>
          </a:prstGeom>
          <a:solidFill>
            <a:srgbClr val="880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0
Content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Content Safety
screens input
&lt; 200ms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777240"/>
            <a:ext cx="2103120" cy="1097280"/>
          </a:xfrm>
          <a:prstGeom prst="rect">
            <a:avLst/>
          </a:prstGeom>
          <a:solidFill>
            <a:srgbClr val="006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0603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1-3
Zero AI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career_engine.py
parse + ATS score
Pure Python &lt;100ms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777240"/>
            <a:ext cx="2103120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5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4
RAG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AI Search
289 chunks
semantic top-7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777240"/>
            <a:ext cx="2103120" cy="1097280"/>
          </a:xfrm>
          <a:prstGeom prst="rect">
            <a:avLst/>
          </a:prstGeom>
          <a:solidFill>
            <a:srgbClr val="CC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69479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STEP 5
4 PARALLEL CALLS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ThreadPoolExecutor
Call 1+2+3+4 fire
simultaneously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097280"/>
            <a:ext cx="228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777240"/>
            <a:ext cx="2103120" cy="10972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795528"/>
            <a:ext cx="2103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RESULT
20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5087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Single JSON response
All tools merged
10-20 seconds total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34640"/>
            <a:ext cx="11612880" cy="228600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2880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4 PARALLEL AZURE OPENAI CALLS — ThreadPoolExecutor(max_workers=4)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Recruiter POV
Cover Letter
Resume Rewrite
JD Template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612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4612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LinkedIn Summary
Intro Scripts
Thank You Email
Salary Negotiation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30-60-90 Plan
Cold Outreach
Career Pivot
Country Laws
Visa Pathways
Matching Jobs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3337560"/>
            <a:ext cx="2651760" cy="1600200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06840" y="335584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900"/>
                </a:solidFill>
              </a:rPr>
              <a:t>CALL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3703320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Skills Gap
Interview Prep
STAR Stories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257800"/>
            <a:ext cx="11612880" cy="1280160"/>
          </a:xfrm>
          <a:prstGeom prst="rect">
            <a:avLst/>
          </a:prstGeom>
          <a:solidFill>
            <a:srgbClr val="05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15 sec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End-to-end
analysis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200ms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Content Safety
screening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150ms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AI Search
retrieval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99.95%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Azure Functions
SLA uptime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&lt; 2 min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3816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GitHub Actions
CI/CD deploy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B900"/>
                </a:solidFill>
              </a:rP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571500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Cost per
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BREADTH OF AZURE SERVICES  25%  —  7 AZURE SERVICES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91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CC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777240"/>
            <a:ext cx="2743200" cy="2606040"/>
          </a:xfrm>
          <a:prstGeom prst="rect">
            <a:avLst/>
          </a:prstGeom>
          <a:solidFill>
            <a:srgbClr val="006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Functions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Python 3.12 Serverless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 API endpoints
Consumption plan
Auto-scale to zero
&lt; 2 min CI/CD deploy
routePrefix: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777240"/>
            <a:ext cx="2743200" cy="26060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gpt-4o-mini · East 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 parallel calls
ThreadPoolExecutor
8192 max tokens
temp: 0.3
api-version: 2024-08-01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777240"/>
            <a:ext cx="2743200" cy="2606040"/>
          </a:xfrm>
          <a:prstGeom prst="rect">
            <a:avLst/>
          </a:prstGeom>
          <a:solidFill>
            <a:srgbClr val="00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AI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Index: career-knowledge
289 chunks indexed
BM25 + semantic
top-k=7 retrieval
Local fallback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2606040"/>
          </a:xfrm>
          <a:prstGeom prst="rect">
            <a:avLst/>
          </a:prstGeom>
          <a:solidFill>
            <a:srgbClr val="8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9720" y="8229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Content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234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v1.0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52704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 categories screened
Hate / Violence
SelfHarm / Sexual
Severity threshold: 4
&lt; 200ms per 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611880"/>
            <a:ext cx="2743200" cy="2606040"/>
          </a:xfrm>
          <a:prstGeom prst="rect">
            <a:avLst/>
          </a:prstGeom>
          <a:solidFill>
            <a:srgbClr val="CC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Key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Standard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All secrets stored
azure-identity SDK
Managed Identity
Zero credentials in code
RBAC enforced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611880"/>
            <a:ext cx="2743200" cy="2606040"/>
          </a:xfrm>
          <a:prstGeom prst="rect">
            <a:avLst/>
          </a:prstGeom>
          <a:solidFill>
            <a:srgbClr val="0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461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Application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Pay-per-use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Latency tracking
Error alerts
RAG chunk telemetry
CI/CD health check
Real-time dashboard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611880"/>
            <a:ext cx="2743200" cy="2606040"/>
          </a:xfrm>
          <a:prstGeom prst="rect">
            <a:avLst/>
          </a:prstGeom>
          <a:solidFill>
            <a:srgbClr val="4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17920" y="36576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Azure Monitor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0690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B900"/>
                </a:solidFill>
              </a:rPr>
              <a:t>Integrated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361688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SLA monitoring
Alert rules
Resource health
Cost tracking
rg-v3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6492240"/>
            <a:ext cx="11704320" cy="292608"/>
          </a:xfrm>
          <a:prstGeom prst="rect">
            <a:avLst/>
          </a:prstGeom>
          <a:solidFill>
            <a:srgbClr val="00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4320" y="651967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Resource Group: rg-v3  ·  Region: East US  ·  Subscription: Microsoft Hackathon  ·  azure-identity Managed Identity: no credentials in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2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INNOVATION  25%  —  20 CAREER INTELLIGENCE TOOLS IN ONE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860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Resume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ATS 0-100 · 8 weighted dimensions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4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Recruiter POV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6-sec hiring manager skim simulation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348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667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Cover Letter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Top-1% · quantified wins · confident close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6092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Resume Rewrite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Impact-first bullets · ATS keyword audit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777240"/>
            <a:ext cx="2240280" cy="12344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38360" y="81381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1552" y="832103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Skills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252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Matched/missing + cert URLs + roadmap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860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Interview Prep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5 full STAR Q&amp;As + questions to ask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0604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9923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STAR Stories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3 metrics-driven behavioural examples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7667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LinkedIn Summary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150-220 words keyword-optimised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6092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Intro Scripts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Word-for-word 1/2/3-min intros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2194560"/>
            <a:ext cx="2240280" cy="123444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738360" y="22311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1552" y="22494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Thank You Email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26700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Subject + body · post-interview edge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860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Salary Negotiation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Market table Entry→VP + scripts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60604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923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30-60-90 Plan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Structured onboarding milestones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98348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7667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Cold Outreach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348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LinkedIn DM + cold email + follow-up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6092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5411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Career Pivot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Pivot score + 3 adjacent roles + plan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92640" y="3611880"/>
            <a:ext cx="2240280" cy="1234440"/>
          </a:xfrm>
          <a:prstGeom prst="rect">
            <a:avLst/>
          </a:prstGeom>
          <a:solidFill>
            <a:srgbClr val="66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738360" y="36484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1552" y="366674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Country Laws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40873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Labour law + notice + non-compete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8288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2860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179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Visa Pathways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ALL routes + official govt URLs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60604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9923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Matching Jobs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0604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Titles + companies + 7-country boards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3776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98348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7667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Similar Occupations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8348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ISCO-08 adjacent roles from RAG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36092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5411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JD Template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6092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Professional job description generated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92640" y="5029200"/>
            <a:ext cx="2240280" cy="12344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738360" y="50657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B900"/>
                </a:solidFill>
              </a:rP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31552" y="508406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Live Job Openings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55046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DDDFF"/>
                </a:solidFill>
              </a:rPr>
              <a:t>Remotive API · real listings · last 7 days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288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900"/>
                </a:solidFill>
              </a:rPr>
              <a:t>All 20 tools from ONE upload · ONE analysis · ONE Azure Functions call · ~15 seconds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60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LIVE DEMO  —  REAL PLATFORM · NO MOCK · NO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5029200" cy="576072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2296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Open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1556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govrag-v3-func.azurewebsites.net
No login · IP detects country automatically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00784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0078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Upload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93391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PDF / DOCX / TXT — extracted in memory
Never stored. Never written to disk.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7860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Add Job 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71215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Paste the JD — optional but improves
ATS match score and skills gap analysis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456432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345643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56432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Click 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49039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4 parallel Azure OpenAI calls fire
Content Safety → RAG → AI → 20 tools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334256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" y="433425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342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See 20 Outputs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26864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~15 seconds · Resume Score · Recruiter POV
Visa Pathways · Salary · All 20 tools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212080"/>
            <a:ext cx="457200" cy="685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" y="521208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21208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900"/>
                </a:solidFill>
              </a:rPr>
              <a:t>API Health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04688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govrag-v3-func.azurewebsites.net/api/health
Shows Azure services + RAG chunk count</a:t>
            </a:r>
          </a:p>
        </p:txBody>
      </p:sp>
      <p:pic>
        <p:nvPicPr>
          <p:cNvPr id="29" name="Picture 28" descr="screencapture-govrag-v3-func-azurewebsites-net-2026-03-26-16_24_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731520"/>
            <a:ext cx="6583680" cy="5760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94960" y="6473952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B900"/>
                </a:solidFill>
              </a:rPr>
              <a:t>govrag-v3-func.azurewebsites.net  —  Live 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400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RESPONSIBLE AI  25%  —  MICROSOFT RAI STANDARD v2 ·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91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AAFF"/>
                </a:solidFill>
              </a:rPr>
              <a:t>JUDGING CRITERION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731520"/>
            <a:ext cx="11795760" cy="1371600"/>
          </a:xfrm>
          <a:prstGeom prst="rect">
            <a:avLst/>
          </a:prstGeom>
          <a:solidFill>
            <a:srgbClr val="150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7772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3-GATE SAFETY PIPELINE — Every Request, Every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566160" cy="822960"/>
          </a:xfrm>
          <a:prstGeom prst="rect">
            <a:avLst/>
          </a:prstGeom>
          <a:solidFill>
            <a:srgbClr val="8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1
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Azure Content Safety
Hate · Violence · SelfHarm · Sexual
Severity ≥ 4 → BLOCKED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3566160" cy="822960"/>
          </a:xfrm>
          <a:prstGeom prst="rect">
            <a:avLst/>
          </a:prstGeom>
          <a:solidFill>
            <a:srgbClr val="00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2
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RAG Grounding
AI writes ONLY from knowledge base
Faithfulness score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5087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90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188720"/>
            <a:ext cx="3566160" cy="822960"/>
          </a:xfrm>
          <a:prstGeom prst="rect">
            <a:avLst/>
          </a:prstGeom>
          <a:solidFill>
            <a:srgbClr val="00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1207008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 3
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207008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Source Citations Mandatory
Every claim cited [Source N]
Hallucination rate &lt; 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48840"/>
            <a:ext cx="3794760" cy="1920240"/>
          </a:xfrm>
          <a:prstGeom prst="rect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FAIRNESS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No demographic data
No bias by nationality/age
195 countries equal quality
ISCO-08 — no profession excluded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148840"/>
            <a:ext cx="3794760" cy="1920240"/>
          </a:xfrm>
          <a:prstGeom prst="rect">
            <a:avLst/>
          </a:prstGeom>
          <a:solidFill>
            <a:srgbClr val="5500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24528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Zero database · Zero storage
No cookies · No tracking
Refresh = data gone forever
GDPR/PIPEDA by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59" y="2148840"/>
            <a:ext cx="3794760" cy="1920240"/>
          </a:xfrm>
          <a:prstGeom prst="rect">
            <a:avLst/>
          </a:prstGeom>
          <a:solidFill>
            <a:srgbClr val="006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02167" y="22128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6060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Source citations on every response
ATS scoring methodology disclosed
RAI Assessment published in /docs
Open source MIT — full code visible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4206240"/>
            <a:ext cx="3794760" cy="1920240"/>
          </a:xfrm>
          <a:prstGeom prst="rect">
            <a:avLst/>
          </a:prstGeom>
          <a:solidFill>
            <a:srgbClr val="88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46888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Azure Content Safety on every input
5MB file limit · 45K char resume limit
Rate limiting 300 req/hr
Input sanitization + injection guard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4206240"/>
            <a:ext cx="3794760" cy="19202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24528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INCLUSIVENESS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8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Ages 5-100 supported
Youth · Seniors · Disability guides
15 industries · 195 countries
ELI12 simplify mode (/simplify)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59" y="4206240"/>
            <a:ext cx="3794760" cy="1920240"/>
          </a:xfrm>
          <a:prstGeom prst="rect">
            <a:avLst/>
          </a:prstGeom>
          <a:solidFill>
            <a:srgbClr val="440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02167" y="42702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ACCOUNTABILITY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7" y="4663440"/>
            <a:ext cx="36576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EEEFF"/>
                </a:solidFill>
              </a:rPr>
              <a:t>Application Insights audit trail
azure-identity RBAC enforced
GitHub version history
Full Transparency Note in repo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6309360"/>
            <a:ext cx="11795760" cy="411480"/>
          </a:xfrm>
          <a:prstGeom prst="rect">
            <a:avLst/>
          </a:prstGeom>
          <a:solidFill>
            <a:srgbClr val="200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8600" y="6336792"/>
            <a:ext cx="1170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B900"/>
                </a:solidFill>
              </a:rPr>
              <a:t>docs/RESPONSIBLE_AI_IMPACT_ASSESSMENT.md  ·  docs/TRANSPARENCY_NOTE.md  ·  GET /responsible-ai endpoint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GITHUB REPOSITORY  —  SHOW THE JUDGES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5303520" cy="58064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7772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900"/>
                </a:solidFill>
              </a:rPr>
              <a:t>github.com/shahzadms7/v3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6187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function_app.py      ← 887 lines · all 10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179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requirements.txt     ← lean · no heavy ML packages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7393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host.json            ← routePrefix: empty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029967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ARCHITECTURE.md      ← full Mermaid diagrams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860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README.md            ← professional Azure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Alfalah_AI_2026_V3.pptx  ← submission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980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305409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app/core/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3101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career_engine.py   ← ATS scorer (zero AI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661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decision_engine.py ← career decision algorithm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822191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ai_provider.py     ← Azure OpenAI async 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0782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azure_ai_services.py ← PII · translate ·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3342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  config.py          ← pydantic-settings · env vars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59028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" y="48463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data/career/         ← 32 knowledge MD 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1023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data/compliance/     ← 3 compliance files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3583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static/index.html    ← full frontend (no framework)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6144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docs/                ← RAI Assessment · 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B900"/>
                </a:solidFill>
              </a:rPr>
              <a:t>.github/workflows/   ← CI/CD auto-deploy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731520"/>
            <a:ext cx="6217920" cy="2926080"/>
          </a:xfrm>
          <a:prstGeom prst="rect">
            <a:avLst/>
          </a:prstGeom>
          <a:solidFill>
            <a:srgbClr val="10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160" y="77724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CI/CD — Every push deploys in &lt; 2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1261872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 git push origin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1517904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2. GitHub Actions triggers (ubuntu-latest)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773936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3. setup-python@v5 → Python 3.12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2029967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4. pip install -r requirements.txt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2286000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5. Azure/functions-action@v1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2542032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app: govrag-v3-func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2798064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publish-profile: AZURE secret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054096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FFAA"/>
                </a:solidFill>
              </a:rPr>
              <a:t>   scm-do-build: 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3310128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6. Health check: GET /api/health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566160"/>
            <a:ext cx="60350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7. Live in &lt; 2 minutes · Zero downtime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749039"/>
            <a:ext cx="6217920" cy="2743200"/>
          </a:xfrm>
          <a:prstGeom prst="rect">
            <a:avLst/>
          </a:prstGeom>
          <a:solidFill>
            <a:srgbClr val="10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160" y="379476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900"/>
                </a:solidFill>
              </a:rPr>
              <a:t>KEY DOCUMENTS FOR JUDGES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4279392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README.md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27939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Professional Azure-standard · live URLs ·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4617720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ARCHITECTURE.md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61772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End-to-end Mermaid diagrams · all 10 endpoints · data flow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4956048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RESPONSIBLE_AI_IMPACT_ASSESSMENT.md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956048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Microsoft RAI Standard v2 · full risk register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5294375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TRANSPARENCY_NOTE.md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294375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Capabilities · limitations · performance targets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5632704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TOOLS_BREAKDOWN.md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563270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Every Azure service · purpose · tier · version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52160" y="5971031"/>
            <a:ext cx="2377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8D4"/>
                </a:solidFill>
              </a:rPr>
              <a:t>Alfalah_AI_2026_V3.pptx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971031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FF"/>
                </a:solidFill>
              </a:rPr>
              <a:t>Submission deck · speaker notes · screenshots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SUMMARY  —  HOW WE SCORE ON ALL 4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731520"/>
            <a:ext cx="2788920" cy="4572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PERFORMANCE
25%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Live platform · govrag-v3-func.azurewebsites.net
4 parallel Azure OpenAI calls · ThreadPoolExecutor
&lt; 15 seconds · 289 RAG chunks · 10 endpoints
Azure Functions SLA 99.95% · &lt; 2 min CI/CD deploy
Health check: /api/health shows all services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731520"/>
            <a:ext cx="2788920" cy="4572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186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INNOVATION
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 tools in ONE analysis — never done before
Free for 8 billion people · no login · no storage
195 countries equal treatment · ISCO-08 + ESCO + O*NET
RAG zero-hallucination architecture (facts first)
Future occupations 2026–2125 knowledge 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731520"/>
            <a:ext cx="2788920" cy="457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904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AZURE BREADTH
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Azure Functions v2 · Azure OpenAI gpt-4o-mini
Azure AI Search · Azure Content Safety
Azure Key Vault · Application Insights · Azure Monitor
azure-identity Managed Identity · all in rg-v3 East US
GitHub Actions → Azure auto-deploy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731520"/>
            <a:ext cx="2788920" cy="4572000"/>
          </a:xfrm>
          <a:prstGeom prst="rect">
            <a:avLst/>
          </a:prstGeom>
          <a:solidFill>
            <a:srgbClr val="800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62288" y="77724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RESPONSIBLE AI
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1508760"/>
            <a:ext cx="2651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Microsoft RAI Standard v2 · all 6 principles active
3-gate safety pipeline · Content Safety on every input
Zero storage by architecture · privacy not just policy
Full docs: RAI Assessment + Transparency Note in /docs
GET /responsible-ai endpoint · source citations always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852160"/>
            <a:ext cx="11795760" cy="685800"/>
          </a:xfrm>
          <a:prstGeom prst="rect">
            <a:avLst/>
          </a:prstGeom>
          <a:solidFill>
            <a:srgbClr val="0A0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8600" y="5897880"/>
            <a:ext cx="1170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900"/>
                </a:solidFill>
              </a:rPr>
              <a:t>Platform: govrag-v3-func.azurewebsites.net  ·  Code: github.com/shahzadms7/v3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6172200"/>
            <a:ext cx="1170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 dirty="0" err="1">
                <a:solidFill>
                  <a:srgbClr val="FFFFFF"/>
                </a:solidFill>
              </a:rPr>
              <a:t>الفلاح</a:t>
            </a:r>
            <a:r>
              <a:rPr sz="1200" b="0" i="1" dirty="0">
                <a:solidFill>
                  <a:srgbClr val="FFFFFF"/>
                </a:solidFill>
              </a:rPr>
              <a:t>  —  Come to Success  —  For Every Human on Earth  —  Shahzad Muhammad </a:t>
            </a:r>
            <a:r>
              <a:rPr lang="en-CA" sz="1200" b="0" i="1" dirty="0">
                <a:solidFill>
                  <a:srgbClr val="FFFFFF"/>
                </a:solidFill>
              </a:rPr>
              <a:t>/ Zara Irfan</a:t>
            </a:r>
            <a:r>
              <a:rPr sz="1200" b="0" i="1">
                <a:solidFill>
                  <a:srgbClr val="FFFFFF"/>
                </a:solidFill>
              </a:rPr>
              <a:t> Canada</a:t>
            </a:r>
            <a:endParaRPr sz="1200" b="0" i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2993</Words>
  <Application>Microsoft Office PowerPoint</Application>
  <PresentationFormat>Custom</PresentationFormat>
  <Paragraphs>339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Usama Naveed</cp:lastModifiedBy>
  <cp:revision>3</cp:revision>
  <dcterms:created xsi:type="dcterms:W3CDTF">2013-01-27T09:14:16Z</dcterms:created>
  <dcterms:modified xsi:type="dcterms:W3CDTF">2026-03-26T21:48:32Z</dcterms:modified>
  <cp:category/>
</cp:coreProperties>
</file>