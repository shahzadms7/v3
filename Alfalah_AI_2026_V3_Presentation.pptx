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— SLIDE 1 (60 seconds)</a:t>
            </a:r>
          </a:p>
          <a:p/>
          <a:p>
            <a:r>
              <a:t>Good [morning/afternoon/evening], everyone.</a:t>
            </a:r>
          </a:p>
          <a:p/>
          <a:p>
            <a:r>
              <a:t>My name is Shahzad Muhammad, and I am here today to present Alfalah AI —</a:t>
            </a:r>
          </a:p>
          <a:p>
            <a:r>
              <a:t>which in Arabic means "Come to Success."</a:t>
            </a:r>
          </a:p>
          <a:p/>
          <a:p>
            <a:r>
              <a:t>This platform was born from a simple but powerful belief:</a:t>
            </a:r>
          </a:p>
          <a:p>
            <a:r>
              <a:t>Every human being on this planet deserves access to world-class career guidance.</a:t>
            </a:r>
          </a:p>
          <a:p>
            <a:r>
              <a:t>Not just the privileged few. Not just people in wealthy countries.</a:t>
            </a:r>
          </a:p>
          <a:p>
            <a:r>
              <a:t>All 8 billion of us.</a:t>
            </a:r>
          </a:p>
          <a:p/>
          <a:p>
            <a:r>
              <a:t>Today I will show you how we built a free, zero-login, AI-powered career intelligence</a:t>
            </a:r>
          </a:p>
          <a:p>
            <a:r>
              <a:t>platform, running 100% on Microsoft Azure, that delivers 17 specialized career modules</a:t>
            </a:r>
          </a:p>
          <a:p>
            <a:r>
              <a:t>to professionals in every one of the 195 countries on Earth.</a:t>
            </a:r>
          </a:p>
          <a:p/>
          <a:p>
            <a:r>
              <a:t>Let me take you through the journey.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— SLIDE 2 (90 seconds)</a:t>
            </a:r>
          </a:p>
          <a:p/>
          <a:p>
            <a:r>
              <a:t>Let me start with the reality of where we are today.</a:t>
            </a:r>
          </a:p>
          <a:p/>
          <a:p>
            <a:r>
              <a:t>1.4 billion people are unemployed or underemployed globally.</a:t>
            </a:r>
          </a:p>
          <a:p>
            <a:r>
              <a:t>That is nearly 1 in 5 people on this planet who cannot find meaningful work.</a:t>
            </a:r>
          </a:p>
          <a:p/>
          <a:p>
            <a:r>
              <a:t>87% of job seekers in emerging markets — places like Pakistan, Nigeria, Indonesia,</a:t>
            </a:r>
          </a:p>
          <a:p>
            <a:r>
              <a:t>Bangladesh — have NEVER received professional career guidance in their entire lives.</a:t>
            </a:r>
          </a:p>
          <a:p/>
          <a:p>
            <a:r>
              <a:t>Career coaches charge $200 to $500 per hour. That is completely inaccessible</a:t>
            </a:r>
          </a:p>
          <a:p>
            <a:r>
              <a:t>to someone earning $5 a day.</a:t>
            </a:r>
          </a:p>
          <a:p/>
          <a:p>
            <a:r>
              <a:t>75% of resumes are rejected by automated systems before a single human</a:t>
            </a:r>
          </a:p>
          <a:p>
            <a:r>
              <a:t>reads them. People do not even know why they are being rejected.</a:t>
            </a:r>
          </a:p>
          <a:p/>
          <a:p>
            <a:r>
              <a:t>And every existing AI career tool? Built for the US market. Maybe Canada and UK.</a:t>
            </a:r>
          </a:p>
          <a:p>
            <a:r>
              <a:t>195 countries on Earth. Tools serving maybe 5.</a:t>
            </a:r>
          </a:p>
          <a:p/>
          <a:p>
            <a:r>
              <a:t>That is the gap. That is the injustice. And that is exactly what Alfalah AI was built to solve.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— SLIDE 3 (90 seconds)</a:t>
            </a:r>
          </a:p>
          <a:p/>
          <a:p>
            <a:r>
              <a:t>So what does Alfalah AI actually do?</a:t>
            </a:r>
          </a:p>
          <a:p/>
          <a:p>
            <a:r>
              <a:t>A user — anywhere in the world — uploads their resume.</a:t>
            </a:r>
          </a:p>
          <a:p>
            <a:r>
              <a:t>They can paste text, upload a PDF, a Word document — whatever they have.</a:t>
            </a:r>
          </a:p>
          <a:p/>
          <a:p>
            <a:r>
              <a:t>They select their country from 195 options. Their industry from 15 categories.</a:t>
            </a:r>
          </a:p>
          <a:p>
            <a:r>
              <a:t>Optionally they paste a job description they want to target.</a:t>
            </a:r>
          </a:p>
          <a:p/>
          <a:p>
            <a:r>
              <a:t>Our Azure-powered engine takes that input and in under 30 seconds —</a:t>
            </a:r>
          </a:p>
          <a:p>
            <a:r>
              <a:t>produces 17 complete career intelligence modules.</a:t>
            </a:r>
          </a:p>
          <a:p/>
          <a:p>
            <a:r>
              <a:t>Not one report. Not two. Seventeen.</a:t>
            </a:r>
          </a:p>
          <a:p/>
          <a:p>
            <a:r>
              <a:t>Resume Score. Cover Letter. Skills Gap. Visa Pathways. Salary Negotiation.</a:t>
            </a:r>
          </a:p>
          <a:p>
            <a:r>
              <a:t>Interview Prep. 30-60-90 Day Plan. And ten more.</a:t>
            </a:r>
          </a:p>
          <a:p/>
          <a:p>
            <a:r>
              <a:t>Everything is country-aware. If you are in Nigeria applying for a job in Canada,</a:t>
            </a:r>
          </a:p>
          <a:p>
            <a:r>
              <a:t>you get the Nigerian labor laws AND the Canadian visa pathways in the same analysis.</a:t>
            </a:r>
          </a:p>
          <a:p/>
          <a:p>
            <a:r>
              <a:t>And here is what makes us different: Zero data is stored.</a:t>
            </a:r>
          </a:p>
          <a:p>
            <a:r>
              <a:t>Your resume never touches a database. The moment we return results,</a:t>
            </a:r>
          </a:p>
          <a:p>
            <a:r>
              <a:t>everything is discarded. Privacy by architecture, not just by policy.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— SLIDE 4 (60 seconds)</a:t>
            </a:r>
          </a:p>
          <a:p/>
          <a:p>
            <a:r>
              <a:t>Let me walk you through the 17 modules — and I want you to appreciate</a:t>
            </a:r>
          </a:p>
          <a:p>
            <a:r>
              <a:t>that every single one of these is generated simultaneously, in a single API call.</a:t>
            </a:r>
          </a:p>
          <a:p/>
          <a:p>
            <a:r>
              <a:t>Start with the Resume Score — a scientific ATS scoring algorithm across</a:t>
            </a:r>
          </a:p>
          <a:p>
            <a:r>
              <a:t>8 weighted dimensions. Then the Recruiter POV — we simulate the 6-second</a:t>
            </a:r>
          </a:p>
          <a:p>
            <a:r>
              <a:t>skim that a hiring manager does when they have 200 resumes on their desk.</a:t>
            </a:r>
          </a:p>
          <a:p/>
          <a:p>
            <a:r>
              <a:t>The Cover Letter, Resume Rewrite, Skills Gap — these are not templates.</a:t>
            </a:r>
          </a:p>
          <a:p>
            <a:r>
              <a:t>They are customized, quantified, specific to the user's resume, their target role,</a:t>
            </a:r>
          </a:p>
          <a:p>
            <a:r>
              <a:t>and their country.</a:t>
            </a:r>
          </a:p>
          <a:p/>
          <a:p>
            <a:r>
              <a:t>Visa Pathways is unique to us. No other free platform tells you every immigration</a:t>
            </a:r>
          </a:p>
          <a:p>
            <a:r>
              <a:t>route from your country to the job's country, with official government URLs.</a:t>
            </a:r>
          </a:p>
          <a:p/>
          <a:p>
            <a:r>
              <a:t>Salary Negotiation comes with word-for-word scripts, in the local currency of the user's country.</a:t>
            </a:r>
          </a:p>
          <a:p/>
          <a:p>
            <a:r>
              <a:t>And the Country Laws module — labor law, worker rights, ATS compliance —</a:t>
            </a:r>
          </a:p>
          <a:p>
            <a:r>
              <a:t>by country. So a job seeker in the UAE knows the rules are different than in Germany.</a:t>
            </a:r>
          </a:p>
          <a:p/>
          <a:p>
            <a:r>
              <a:t>Seventeen modules. Zero cost. That is what we deliver.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— SLIDE 5 (90 seconds)</a:t>
            </a:r>
          </a:p>
          <a:p/>
          <a:p>
            <a:r>
              <a:t>Now let me walk you through the Azure architecture that powers all of this.</a:t>
            </a:r>
          </a:p>
          <a:p/>
          <a:p>
            <a:r>
              <a:t>At the top, the user opens their browser — any browser, any device, anywhere in the world.</a:t>
            </a:r>
          </a:p>
          <a:p>
            <a:r>
              <a:t>Our frontend is served from Azure Static Web Apps, which means it is delivered from</a:t>
            </a:r>
          </a:p>
          <a:p>
            <a:r>
              <a:t>the nearest CDN edge node. A user in Lagos, Nigeria gets the same performance</a:t>
            </a:r>
          </a:p>
          <a:p>
            <a:r>
              <a:t>as a user in Toronto, Canada.</a:t>
            </a:r>
          </a:p>
          <a:p/>
          <a:p>
            <a:r>
              <a:t>The frontend talks to our Azure Functions backend — Python v2 serverless.</a:t>
            </a:r>
          </a:p>
          <a:p>
            <a:r>
              <a:t>Six endpoints. All stateless. All auto-scaling. We pay zero when nobody is using it,</a:t>
            </a:r>
          </a:p>
          <a:p>
            <a:r>
              <a:t>and it scales to millions with no changes.</a:t>
            </a:r>
          </a:p>
          <a:p/>
          <a:p>
            <a:r>
              <a:t>The Azure Functions orchestrate four Azure services:</a:t>
            </a:r>
          </a:p>
          <a:p>
            <a:r>
              <a:t>- Azure OpenAI running GPT-4o-mini for primary AI inference</a:t>
            </a:r>
          </a:p>
          <a:p>
            <a:r>
              <a:t>- Azure AI Search for semantic and vector retrieval from our knowledge base</a:t>
            </a:r>
          </a:p>
          <a:p>
            <a:r>
              <a:t>- Azure Key Vault where every secret and API key is managed with RBAC</a:t>
            </a:r>
          </a:p>
          <a:p>
            <a:r>
              <a:t>- Azure Content Safety to moderate every AI output</a:t>
            </a:r>
          </a:p>
          <a:p/>
          <a:p>
            <a:r>
              <a:t>Below that is our RAG engine — 28 structured knowledge files,</a:t>
            </a:r>
          </a:p>
          <a:p>
            <a:r>
              <a:t>over 1 million tokens of structured career science.</a:t>
            </a:r>
          </a:p>
          <a:p/>
          <a:p>
            <a:r>
              <a:t>And our AI fallback chain — 4 providers, 8 models. If Azure OpenAI has a</a:t>
            </a:r>
          </a:p>
          <a:p>
            <a:r>
              <a:t>momentary hiccup, we switch to Gemini in under one second.</a:t>
            </a:r>
          </a:p>
          <a:p>
            <a:r>
              <a:t>If Gemini is unavailable, we fall to Grok. The platform never goes dark.</a:t>
            </a:r>
          </a:p>
          <a:p/>
          <a:p>
            <a:r>
              <a:t>Everything deploys automatically from GitHub via GitHub Actions.</a:t>
            </a:r>
          </a:p>
          <a:p>
            <a:r>
              <a:t>Zero-downtime, every push to main.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— SLIDE 6 (60 seconds)</a:t>
            </a:r>
          </a:p>
          <a:p/>
          <a:p>
            <a:r>
              <a:t>This slide shows our complete technology stack from A to Z.</a:t>
            </a:r>
          </a:p>
          <a:p/>
          <a:p>
            <a:r>
              <a:t>In the top-left, Azure Cloud. We use nine Azure services — Static Web Apps,</a:t>
            </a:r>
          </a:p>
          <a:p>
            <a:r>
              <a:t>Functions, OpenAI, AI Search, Key Vault, Content Safety, Entra ID, Cosmos DB, and Monitor.</a:t>
            </a:r>
          </a:p>
          <a:p>
            <a:r>
              <a:t>One cloud. One bill. Full integration. This is why we built on Azure.</a:t>
            </a:r>
          </a:p>
          <a:p/>
          <a:p>
            <a:r>
              <a:t>AI and Machine Learning — we use four providers and eight models,</a:t>
            </a:r>
          </a:p>
          <a:p>
            <a:r>
              <a:t>with our custom RAG engine delivering 99% of the intelligence from structured data.</a:t>
            </a:r>
          </a:p>
          <a:p/>
          <a:p>
            <a:r>
              <a:t>Python 3.11 on the backend, Next.js and React on the frontend,</a:t>
            </a:r>
          </a:p>
          <a:p>
            <a:r>
              <a:t>Tailwind for the galaxy gradient UI that users love.</a:t>
            </a:r>
          </a:p>
          <a:p/>
          <a:p>
            <a:r>
              <a:t>Our development environment is Visual Studio Code, with Claude Code as our AI pair programmer,</a:t>
            </a:r>
          </a:p>
          <a:p>
            <a:r>
              <a:t>and GitHub Copilot for completion. This project was built at the intersection of</a:t>
            </a:r>
          </a:p>
          <a:p>
            <a:r>
              <a:t>human creativity and AI assistance.</a:t>
            </a:r>
          </a:p>
          <a:p/>
          <a:p>
            <a:r>
              <a:t>And our knowledge base is grounded in internationally recognized standards —</a:t>
            </a:r>
          </a:p>
          <a:p>
            <a:r>
              <a:t>ISCO-08, ESCO, O*NET — the same frameworks used by the ILO, EU, and US Department of Labor.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— SLIDE 7 (90 seconds)</a:t>
            </a:r>
          </a:p>
          <a:p/>
          <a:p>
            <a:r>
              <a:t>This slide explains the core innovation that separates Alfalah AI from everything else.</a:t>
            </a:r>
          </a:p>
          <a:p/>
          <a:p>
            <a:r>
              <a:t>Every other AI career tool works the same way:</a:t>
            </a:r>
          </a:p>
          <a:p>
            <a:r>
              <a:t>Upload resume, ask ChatGPT to tell you what to do.</a:t>
            </a:r>
          </a:p>
          <a:p>
            <a:r>
              <a:t>The problem? ChatGPT makes things up. It will tell you the wrong visa route.</a:t>
            </a:r>
          </a:p>
          <a:p>
            <a:r>
              <a:t>It will fabricate salary numbers. It will give you labor laws that do not exist.</a:t>
            </a:r>
          </a:p>
          <a:p/>
          <a:p>
            <a:r>
              <a:t>We took a fundamentally different approach.</a:t>
            </a:r>
          </a:p>
          <a:p/>
          <a:p>
            <a:r>
              <a:t>We built what is called a Retrieval-Augmented Generation engine.</a:t>
            </a:r>
          </a:p>
          <a:p>
            <a:r>
              <a:t>Before the AI writes a single word, we retrieve authoritative structured data</a:t>
            </a:r>
          </a:p>
          <a:p>
            <a:r>
              <a:t>from our knowledge base — 28 files, over 1 million tokens of career science.</a:t>
            </a:r>
          </a:p>
          <a:p/>
          <a:p>
            <a:r>
              <a:t>For a software engineer in Pakistan applying to jobs in Canada —</a:t>
            </a:r>
          </a:p>
          <a:p>
            <a:r>
              <a:t>we retrieve the exact ISCO-08 classification for their role,</a:t>
            </a:r>
          </a:p>
          <a:p>
            <a:r>
              <a:t>the Canadian salary ranges from our structured data,</a:t>
            </a:r>
          </a:p>
          <a:p>
            <a:r>
              <a:t>the specific visa pathways from Pakistan to Canada with official government URLs,</a:t>
            </a:r>
          </a:p>
          <a:p>
            <a:r>
              <a:t>and the Ontario labor law requirements.</a:t>
            </a:r>
          </a:p>
          <a:p/>
          <a:p>
            <a:r>
              <a:t>THEN we send all of that to Azure OpenAI and say:</a:t>
            </a:r>
          </a:p>
          <a:p>
            <a:r>
              <a:t>"Format this into professional career guidance."</a:t>
            </a:r>
          </a:p>
          <a:p/>
          <a:p>
            <a:r>
              <a:t>The AI does not guess. The AI formats facts.</a:t>
            </a:r>
          </a:p>
          <a:p>
            <a:r>
              <a:t>That is why our outputs are accurate. That is why our visa routes are real.</a:t>
            </a:r>
          </a:p>
          <a:p>
            <a:r>
              <a:t>That is what we mean when we say: Zero hallucination.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— SLIDE 8 (60 seconds)</a:t>
            </a:r>
          </a:p>
          <a:p/>
          <a:p>
            <a:r>
              <a:t>Microsoft's Responsible AI Standard has six principles.</a:t>
            </a:r>
          </a:p>
          <a:p>
            <a:r>
              <a:t>We did not just try to comply with them — we designed every architectural</a:t>
            </a:r>
          </a:p>
          <a:p>
            <a:r>
              <a:t>decision around them.</a:t>
            </a:r>
          </a:p>
          <a:p/>
          <a:p>
            <a:r>
              <a:t>Fairness: Our analysis never looks at age, gender, nationality, or background.</a:t>
            </a:r>
          </a:p>
          <a:p>
            <a:r>
              <a:t>It looks at skills, experience, and role requirements. Period.</a:t>
            </a:r>
          </a:p>
          <a:p/>
          <a:p>
            <a:r>
              <a:t>Reliability: Four AI providers, eight models. The platform stays up even if</a:t>
            </a:r>
          </a:p>
          <a:p>
            <a:r>
              <a:t>Azure OpenAI, Google, and xAI all have issues simultaneously.</a:t>
            </a:r>
          </a:p>
          <a:p/>
          <a:p>
            <a:r>
              <a:t>Privacy: Most platforms say "we do not sell your data." We say:</a:t>
            </a:r>
          </a:p>
          <a:p>
            <a:r>
              <a:t>"your data never exists in our system." There is nothing to sell because</a:t>
            </a:r>
          </a:p>
          <a:p>
            <a:r>
              <a:t>there is nothing stored.</a:t>
            </a:r>
          </a:p>
          <a:p/>
          <a:p>
            <a:r>
              <a:t>Security: Azure Key Vault for secrets. RBAC for access control.</a:t>
            </a:r>
          </a:p>
          <a:p>
            <a:r>
              <a:t>Content Safety on every output. This is enterprise-grade security on a free platform.</a:t>
            </a:r>
          </a:p>
          <a:p/>
          <a:p>
            <a:r>
              <a:t>Inclusiveness: We built specific career guides for youth aged 5 to 18,</a:t>
            </a:r>
          </a:p>
          <a:p>
            <a:r>
              <a:t>for seniors aged 55 and above re-entering the workforce,</a:t>
            </a:r>
          </a:p>
          <a:p>
            <a:r>
              <a:t>and for people with disabilities. Because "built for 8 billion" means everyone.</a:t>
            </a:r>
          </a:p>
          <a:p/>
          <a:p>
            <a:r>
              <a:t>Transparency: We publish our ATS scoring algorithm dimensions.</a:t>
            </a:r>
          </a:p>
          <a:p>
            <a:r>
              <a:t>We tell users exactly how their resume is being evaluated.</a:t>
            </a:r>
          </a:p>
          <a:p>
            <a:r>
              <a:t>No black box.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— SLIDE 9 — LIVE DEMO (2-3 minutes)</a:t>
            </a:r>
          </a:p>
          <a:p/>
          <a:p>
            <a:r>
              <a:t>Now let me show you the platform live.</a:t>
            </a:r>
          </a:p>
          <a:p/>
          <a:p>
            <a:r>
              <a:t>[Open browser to shahzad-job-coach-ai.vercel.app]</a:t>
            </a:r>
          </a:p>
          <a:p/>
          <a:p>
            <a:r>
              <a:t>STEP 1: Notice the splash screen. The platform automatically detects your country</a:t>
            </a:r>
          </a:p>
          <a:p>
            <a:r>
              <a:t>via IP address. You can confirm it or choose from all 195 countries.</a:t>
            </a:r>
          </a:p>
          <a:p>
            <a:r>
              <a:t>Then you pick your industry. No account. No email. No password. You are in.</a:t>
            </a:r>
          </a:p>
          <a:p/>
          <a:p>
            <a:r>
              <a:t>STEP 2: I will paste a sample resume here. You can see it accepts plain text,</a:t>
            </a:r>
          </a:p>
          <a:p>
            <a:r>
              <a:t>PDF, and Word documents. Whatever format the user has.</a:t>
            </a:r>
          </a:p>
          <a:p/>
          <a:p>
            <a:r>
              <a:t>STEP 3: [Click Analyze] Watch the loading screen — this is</a:t>
            </a:r>
          </a:p>
          <a:p>
            <a:r>
              <a:t>the Azure Functions backend retrieving context from AI Search,</a:t>
            </a:r>
          </a:p>
          <a:p>
            <a:r>
              <a:t>assembling the RAG prompt, and calling GPT-4o-mini. Under 30 seconds.</a:t>
            </a:r>
          </a:p>
          <a:p/>
          <a:p>
            <a:r>
              <a:t>STEP 4: [Scroll through results] Look at the Resume Score — eight dimensions,</a:t>
            </a:r>
          </a:p>
          <a:p>
            <a:r>
              <a:t>each explained. Then the Recruiter POV — this is the 6-second hiring</a:t>
            </a:r>
          </a:p>
          <a:p>
            <a:r>
              <a:t>manager skim simulation. [Show Visa Pathways if cross-country]</a:t>
            </a:r>
          </a:p>
          <a:p/>
          <a:p>
            <a:r>
              <a:t>STEP 5: [Change country] Watch how the salary data changes to local currency.</a:t>
            </a:r>
          </a:p>
          <a:p>
            <a:r>
              <a:t>Watch how the visa pathways completely change. This is country-aware AI.</a:t>
            </a:r>
          </a:p>
          <a:p>
            <a:r>
              <a:t>No competitor does this for free, for 195 countries.</a:t>
            </a:r>
          </a:p>
          <a:p/>
          <a:p>
            <a:r>
              <a:t>STEP 6: [Scroll to live jobs] These are real job postings from Google Jobs,</a:t>
            </a:r>
          </a:p>
          <a:p>
            <a:r>
              <a:t>pulled in the last 7 days, filtered for this country and role.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— SLIDE 10 (60 seconds)</a:t>
            </a:r>
          </a:p>
          <a:p/>
          <a:p>
            <a:r>
              <a:t>I want to put a human face on this platform.</a:t>
            </a:r>
          </a:p>
          <a:p/>
          <a:p>
            <a:r>
              <a:t>Fatima is 24 years old in Lahore, Pakistan. She has a Computer Science degree</a:t>
            </a:r>
          </a:p>
          <a:p>
            <a:r>
              <a:t>but zero professional career guidance available to her locally.</a:t>
            </a:r>
          </a:p>
          <a:p>
            <a:r>
              <a:t>In 30 seconds, Alfalah AI gives her a top-1% resume,</a:t>
            </a:r>
          </a:p>
          <a:p>
            <a:r>
              <a:t>a Canadian skilled worker visa pathway with official government URLs,</a:t>
            </a:r>
          </a:p>
          <a:p>
            <a:r>
              <a:t>and a word-for-word salary negotiation script. For free.</a:t>
            </a:r>
          </a:p>
          <a:p/>
          <a:p>
            <a:r>
              <a:t>Chukwu has been rejected 40 times and does not know why.</a:t>
            </a:r>
          </a:p>
          <a:p>
            <a:r>
              <a:t>Alfalah AI tells him exactly why — ATS rejection patterns —</a:t>
            </a:r>
          </a:p>
          <a:p>
            <a:r>
              <a:t>rewrites his resume, and tells him the 3 certifications he needs</a:t>
            </a:r>
          </a:p>
          <a:p>
            <a:r>
              <a:t>to break through.</a:t>
            </a:r>
          </a:p>
          <a:p/>
          <a:p>
            <a:r>
              <a:t>Priya is 45 and wants to pivot to data science after 15 years in another field.</a:t>
            </a:r>
          </a:p>
          <a:p>
            <a:r>
              <a:t>She gets a career pivot score, adjacent role analysis, and a 90-day roadmap.</a:t>
            </a:r>
          </a:p>
          <a:p/>
          <a:p>
            <a:r>
              <a:t>Sipho is 58. He is re-entering after a layoff. We built a specific</a:t>
            </a:r>
          </a:p>
          <a:p>
            <a:r>
              <a:t>accessibility guide for professionals 55 and above because</a:t>
            </a:r>
          </a:p>
          <a:p>
            <a:r>
              <a:t>"built for 8 billion" means everyone, including those the industry forgets.</a:t>
            </a:r>
          </a:p>
          <a:p/>
          <a:p>
            <a:r>
              <a:t>That is who this platform serves. That is why it had to be free.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— SLIDE 11 (60 seconds)</a:t>
            </a:r>
          </a:p>
          <a:p/>
          <a:p>
            <a:r>
              <a:t>Someone will ask: why Azure? Why not AWS? Why not GCP?</a:t>
            </a:r>
          </a:p>
          <a:p/>
          <a:p>
            <a:r>
              <a:t>The answer is alignment. Not just technical alignment — values alignment.</a:t>
            </a:r>
          </a:p>
          <a:p/>
          <a:p>
            <a:r>
              <a:t>Microsoft's AI for Good initiative exists because Satya Nadella believes</a:t>
            </a:r>
          </a:p>
          <a:p>
            <a:r>
              <a:t>technology should serve humanity. That is exactly what we built.</a:t>
            </a:r>
          </a:p>
          <a:p/>
          <a:p>
            <a:r>
              <a:t>Azure's free tier on Static Web Apps and Functions means we can run</a:t>
            </a:r>
          </a:p>
          <a:p>
            <a:r>
              <a:t>a global platform at zero cost during development — critical for a</a:t>
            </a:r>
          </a:p>
          <a:p>
            <a:r>
              <a:t>free, not-for-profit tool.</a:t>
            </a:r>
          </a:p>
          <a:p/>
          <a:p>
            <a:r>
              <a:t>The integrated Azure AI stack — OpenAI, AI Search, Content Safety —</a:t>
            </a:r>
          </a:p>
          <a:p>
            <a:r>
              <a:t>meant we could build a responsible AI platform without stitching</a:t>
            </a:r>
          </a:p>
          <a:p>
            <a:r>
              <a:t>together five different vendors and five different trust frameworks.</a:t>
            </a:r>
          </a:p>
          <a:p/>
          <a:p>
            <a:r>
              <a:t>Azure's 60+ global regions mean that a user in Indonesia gets the same</a:t>
            </a:r>
          </a:p>
          <a:p>
            <a:r>
              <a:t>performance as a user in Seattle. That matters when you are serving 195 countries.</a:t>
            </a:r>
          </a:p>
          <a:p/>
          <a:p>
            <a:r>
              <a:t>And for this hackathon specifically — we are demonstrating the full Azure AI stack</a:t>
            </a:r>
          </a:p>
          <a:p>
            <a:r>
              <a:t>in a real production use case that serves real people.</a:t>
            </a:r>
          </a:p>
          <a:p>
            <a:r>
              <a:t>That is what this competition is designed to reward.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— SLIDE 12 (60 seconds)</a:t>
            </a:r>
          </a:p>
          <a:p/>
          <a:p>
            <a:r>
              <a:t>We have already shipped two complete versions in production.</a:t>
            </a:r>
          </a:p>
          <a:p/>
          <a:p>
            <a:r>
              <a:t>V1 launched in early March 2026 — 12 modules, submitted to our first hackathon.</a:t>
            </a:r>
          </a:p>
          <a:p>
            <a:r>
              <a:t>V2 followed immediately — 17 modules, 195 countries, the full RAG engine,</a:t>
            </a:r>
          </a:p>
          <a:p>
            <a:r>
              <a:t>Gemini and Grok fallbacks. PWA-ready for mobile.</a:t>
            </a:r>
          </a:p>
          <a:p/>
          <a:p>
            <a:r>
              <a:t>V3 is what we are presenting today — the full Azure migration,</a:t>
            </a:r>
          </a:p>
          <a:p>
            <a:r>
              <a:t>Python backend, AI Search, Key Vault, and GRC framework.</a:t>
            </a:r>
          </a:p>
          <a:p/>
          <a:p>
            <a:r>
              <a:t>V4 is planned for Q3 2026 — React Native mobile app,</a:t>
            </a:r>
          </a:p>
          <a:p>
            <a:r>
              <a:t>Cosmos DB for analytics, and most importantly: multi-language support</a:t>
            </a:r>
          </a:p>
          <a:p>
            <a:r>
              <a:t>for 40+ languages. Because Arabic speakers, Hindi speakers,</a:t>
            </a:r>
          </a:p>
          <a:p>
            <a:r>
              <a:t>Swahili speakers deserve guidance in their own language.</a:t>
            </a:r>
          </a:p>
          <a:p/>
          <a:p>
            <a:r>
              <a:t>V5 closes out 2026 with alfalah.app live, Azure Marketplace listing,</a:t>
            </a:r>
          </a:p>
          <a:p>
            <a:r>
              <a:t>and a target of 1 million users.</a:t>
            </a:r>
          </a:p>
          <a:p/>
          <a:p>
            <a:r>
              <a:t>And I want to be direct about the $10,000 prize.</a:t>
            </a:r>
          </a:p>
          <a:p>
            <a:r>
              <a:t>Every dollar goes directly into accelerating V4 and V5.</a:t>
            </a:r>
          </a:p>
          <a:p>
            <a:r>
              <a:t>React Native development. The 40-language rollout.</a:t>
            </a:r>
          </a:p>
          <a:p>
            <a:r>
              <a:t>The Azure Marketplace listing that puts us in front of enterprises.</a:t>
            </a:r>
          </a:p>
          <a:p/>
          <a:p>
            <a:r>
              <a:t>This prize is not for me. It is for the 8 billion people this platform serves.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— SLIDE 13 (45 seconds)</a:t>
            </a:r>
          </a:p>
          <a:p/>
          <a:p>
            <a:r>
              <a:t>We are asking for four things.</a:t>
            </a:r>
          </a:p>
          <a:p/>
          <a:p>
            <a:r>
              <a:t>First, the $10,000 prize — which goes directly into V4 development:</a:t>
            </a:r>
          </a:p>
          <a:p>
            <a:r>
              <a:t>React Native mobile app, 40-language rollout, and the alfalah.app domain</a:t>
            </a:r>
          </a:p>
          <a:p>
            <a:r>
              <a:t>so this platform has a permanent home.</a:t>
            </a:r>
          </a:p>
          <a:p/>
          <a:p>
            <a:r>
              <a:t>Second, Azure credits to scale our AI Search indexing to handle</a:t>
            </a:r>
          </a:p>
          <a:p>
            <a:r>
              <a:t>production-level traffic across all 28 knowledge files.</a:t>
            </a:r>
          </a:p>
          <a:p/>
          <a:p>
            <a:r>
              <a:t>Third, introductions to the Microsoft for Startups program and the AI for Good initiative —</a:t>
            </a:r>
          </a:p>
          <a:p>
            <a:r>
              <a:t>because this project belongs in that ecosystem.</a:t>
            </a:r>
          </a:p>
          <a:p/>
          <a:p>
            <a:r>
              <a:t>Fourth, visibility. A case study on the Azure blog or GitHub Showcase</a:t>
            </a:r>
          </a:p>
          <a:p>
            <a:r>
              <a:t>so that other builders can see what is possible on Azure</a:t>
            </a:r>
          </a:p>
          <a:p>
            <a:r>
              <a:t>when you combine Functions, OpenAI, AI Search, and Key Vault.</a:t>
            </a:r>
          </a:p>
          <a:p/>
          <a:p>
            <a:r>
              <a:t>In return, we give Microsoft an open-source, production-grade demonstration</a:t>
            </a:r>
          </a:p>
          <a:p>
            <a:r>
              <a:t>of the full Azure AI stack — serving 8 billion people —</a:t>
            </a:r>
          </a:p>
          <a:p>
            <a:r>
              <a:t>that anyone can fork, learn from, and build upon.</a:t>
            </a:r>
          </a:p>
          <a:p/>
          <a:p>
            <a:r>
              <a:t>That is the deal. And I believe it is a good one.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— SLIDE 14 — CLOSING (45 seconds)</a:t>
            </a:r>
          </a:p>
          <a:p/>
          <a:p>
            <a:r>
              <a:t>I want to close with the name.</a:t>
            </a:r>
          </a:p>
          <a:p/>
          <a:p>
            <a:r>
              <a:t>Alfalah. الفلاح.</a:t>
            </a:r>
          </a:p>
          <a:p/>
          <a:p>
            <a:r>
              <a:t>In Arabic, in Urdu, in the Islamic tradition — this word means success.</a:t>
            </a:r>
          </a:p>
          <a:p>
            <a:r>
              <a:t>But not just personal success. Flourishing. The kind of success that</a:t>
            </a:r>
          </a:p>
          <a:p>
            <a:r>
              <a:t>comes from doing something meaningful for others.</a:t>
            </a:r>
          </a:p>
          <a:p/>
          <a:p>
            <a:r>
              <a:t>Every day, somewhere on this planet, a young person is rejected by an</a:t>
            </a:r>
          </a:p>
          <a:p>
            <a:r>
              <a:t>ATS system they do not understand. A professional is stuck in a country</a:t>
            </a:r>
          </a:p>
          <a:p>
            <a:r>
              <a:t>with no path forward. A parent is trying to give their children a better life</a:t>
            </a:r>
          </a:p>
          <a:p>
            <a:r>
              <a:t>but does not know where to start.</a:t>
            </a:r>
          </a:p>
          <a:p/>
          <a:p>
            <a:r>
              <a:t>We built this platform for them.</a:t>
            </a:r>
          </a:p>
          <a:p/>
          <a:p>
            <a:r>
              <a:t>Not with a complex enterprise contract. Not with a subscription.</a:t>
            </a:r>
          </a:p>
          <a:p>
            <a:r>
              <a:t>Not with a login page. Just: go to the website, upload your resume,</a:t>
            </a:r>
          </a:p>
          <a:p>
            <a:r>
              <a:t>and in 30 seconds — get the guidance that changes the trajectory of your career.</a:t>
            </a:r>
          </a:p>
          <a:p/>
          <a:p>
            <a:r>
              <a:t>That is what technology should do. That is what AI on Azure can do.</a:t>
            </a:r>
          </a:p>
          <a:p/>
          <a:p>
            <a:r>
              <a:t>Thank you. I am happy to take questions.</a:t>
            </a:r>
          </a:p>
          <a:p/>
          <a:p>
            <a:r>
              <a:t>[Pause. Smile. Let it land.]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36576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59E0B"/>
                </a:solidFill>
              </a:rPr>
              <a:t>الفلاح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32588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ALFALAH AI  2026  V3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92024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78D4"/>
                </a:solidFill>
              </a:rPr>
              <a:t>Career Intelligence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2468880"/>
            <a:ext cx="6702552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260604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5E7EB"/>
                </a:solidFill>
              </a:rPr>
              <a:t>Built for 8 Billion People  ·  100% Microsoft Azure  ·  Free Forever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315468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F59E0B"/>
                </a:solidFill>
              </a:rPr>
              <a:t>"Come to Success — For Every Human on Earth"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3840480"/>
            <a:ext cx="2011680" cy="1188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8862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78D4"/>
                </a:solidFill>
              </a:rPr>
              <a:t>195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480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5E7EB"/>
                </a:solidFill>
              </a:rPr>
              <a:t>Countries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0" y="3840480"/>
            <a:ext cx="2011680" cy="1188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0" y="38862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78D4"/>
                </a:solidFill>
              </a:rPr>
              <a:t>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4480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5E7EB"/>
                </a:solidFill>
              </a:rPr>
              <a:t>AI Modules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3840480"/>
            <a:ext cx="2011680" cy="1188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8862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78D4"/>
                </a:solidFill>
              </a:rPr>
              <a:t>436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480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5E7EB"/>
                </a:solidFill>
              </a:rPr>
              <a:t>Occupations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59" y="3840480"/>
            <a:ext cx="2011680" cy="1188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59" y="38862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78D4"/>
                </a:solidFill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59" y="4480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5E7EB"/>
                </a:solidFill>
              </a:rPr>
              <a:t>Cost Forever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621792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</a:rPr>
              <a:t>Shahzad Muhammad  ·  Mississauga, Ontario, Canada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PROBLEM WE SOLVE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6B35"/>
                </a:solidFill>
              </a:rPr>
              <a:t>1.4 Billion People. No Career Guidance. No Way Forward.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394960" cy="1234440"/>
          </a:xfrm>
          <a:prstGeom prst="rect">
            <a:avLst/>
          </a:prstGeom>
          <a:solidFill>
            <a:srgbClr val="1A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6B35"/>
                </a:solidFill>
              </a:rPr>
              <a:t>1.4 Billion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1168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people unemployed or underemployed globally (ILO 2025)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63040"/>
            <a:ext cx="5394960" cy="1234440"/>
          </a:xfrm>
          <a:prstGeom prst="rect">
            <a:avLst/>
          </a:prstGeom>
          <a:solidFill>
            <a:srgbClr val="1A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5087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6B35"/>
                </a:solidFill>
              </a:rPr>
              <a:t>87%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01168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of job seekers in emerging markets NEVER received professional resume guidance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880360"/>
            <a:ext cx="5394960" cy="1234440"/>
          </a:xfrm>
          <a:prstGeom prst="rect">
            <a:avLst/>
          </a:prstGeom>
          <a:solidFill>
            <a:srgbClr val="1A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9260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6B35"/>
                </a:solidFill>
              </a:rPr>
              <a:t>$200–$500/hr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4290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is what career coaches charge — unaffordable for most of the world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880360"/>
            <a:ext cx="5394960" cy="1234440"/>
          </a:xfrm>
          <a:prstGeom prst="rect">
            <a:avLst/>
          </a:prstGeom>
          <a:solidFill>
            <a:srgbClr val="1A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9260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6B35"/>
                </a:solidFill>
              </a:rPr>
              <a:t>75%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4290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of resumes are rejected by ATS systems before a human ever sees them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297680"/>
            <a:ext cx="5394960" cy="1234440"/>
          </a:xfrm>
          <a:prstGeom prst="rect">
            <a:avLst/>
          </a:prstGeom>
          <a:solidFill>
            <a:srgbClr val="1A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343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6B35"/>
                </a:solidFill>
              </a:rPr>
              <a:t>195 Countries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84632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but career tools only built for 3-5 wealthy nations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297680"/>
            <a:ext cx="5394960" cy="1234440"/>
          </a:xfrm>
          <a:prstGeom prst="rect">
            <a:avLst/>
          </a:prstGeom>
          <a:solidFill>
            <a:srgbClr val="1A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4343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6B35"/>
                </a:solidFill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84632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free, truly global, AI-powered career platforms before today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0350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1">
                <a:solidFill>
                  <a:srgbClr val="F59E0B"/>
                </a:solidFill>
              </a:rPr>
              <a:t>The career guidance industry is broken for most of humanity. We fix that.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78D4"/>
                </a:solidFill>
              </a:rPr>
              <a:t>One Platform. Every Human. Every Country. Free Forever.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200400" cy="41148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78D4"/>
                </a:solidFill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E5E7EB"/>
                </a:solidFill>
              </a:rPr>
              <a:t>→  📄 Resume (PDF/DOCX/TXT)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5E7EB"/>
                </a:solidFill>
              </a:rPr>
              <a:t>→  📋 Job Description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5E7EB"/>
                </a:solidFill>
              </a:rPr>
              <a:t>→  🌍 Your Country (195)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5E7EB"/>
                </a:solidFill>
              </a:rPr>
              <a:t>→  🏭 Your Industry (15)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31089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6B35"/>
                </a:solidFill>
              </a:rPr>
              <a:t>⚡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371600"/>
            <a:ext cx="2926080" cy="4114800"/>
          </a:xfrm>
          <a:prstGeom prst="rect">
            <a:avLst/>
          </a:prstGeom>
          <a:solidFill>
            <a:srgbClr val="0A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3716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B5CF6"/>
                </a:solidFill>
              </a:rPr>
              <a:t>AZURE AI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82880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E5E7EB"/>
                </a:solidFill>
              </a:rPr>
              <a:t>▸  GPT-4o-mini (Primary)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5E7EB"/>
                </a:solidFill>
              </a:rPr>
              <a:t>▸  Gemini 2.0 Flash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5E7EB"/>
                </a:solidFill>
              </a:rPr>
              <a:t>▸  xAI Grok-4 (Fallback)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5E7EB"/>
                </a:solidFill>
              </a:rPr>
              <a:t>▸  RAG: 28 knowledge files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5E7EB"/>
                </a:solidFill>
              </a:rPr>
              <a:t>▸  436 ISCO-08 occupations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31089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2C55E"/>
                </a:solidFill>
              </a:rPr>
              <a:t>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1371600"/>
            <a:ext cx="3383280" cy="4114800"/>
          </a:xfrm>
          <a:prstGeom prst="rect">
            <a:avLst/>
          </a:prstGeom>
          <a:solidFill>
            <a:srgbClr val="03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3716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C55E"/>
                </a:solidFill>
              </a:rPr>
              <a:t>17 MODULES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182880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E5E7EB"/>
                </a:solidFill>
              </a:rPr>
              <a:t>✓  Resume Score + ATS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5E7EB"/>
                </a:solidFill>
              </a:rPr>
              <a:t>✓  Cover Letter Top 1%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5E7EB"/>
                </a:solidFill>
              </a:rPr>
              <a:t>✓  Skills Gap + Certs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5E7EB"/>
                </a:solidFill>
              </a:rPr>
              <a:t>✓  Visa Pathways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5E7EB"/>
                </a:solidFill>
              </a:rPr>
              <a:t>✓  Salary Negotiation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5E7EB"/>
                </a:solidFill>
              </a:rPr>
              <a:t>✓  30-60-90 Action Plan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5E7EB"/>
                </a:solidFill>
              </a:rPr>
              <a:t>✓  + 11 more modules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7607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59E0B"/>
                </a:solidFill>
              </a:rPr>
              <a:t>⏱ Under 30 seconds  ·  🔒 Zero data stored  ·  💰 100% Free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17 CAREER INTELLIGENCE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B5CF6"/>
                </a:solidFill>
              </a:rPr>
              <a:t>One analysis. Seventeen expert outputs. In under 30 seconds.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25296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22529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Resume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51790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ATS algorithm — 8 weighted dimensions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901952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93852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Recruiter POV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23113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6-second hiring manager skim simulation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615184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65176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6517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Cover Letter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94436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Top-1% quality — quantified, specific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328415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364991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364991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Resume Rewrite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657599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Impact-first restructure + ATS audit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041648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078224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07822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Skills Gap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37083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Matched/missing + cert URLs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754880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791456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79145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Interview Prep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08406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5 Q&amp;A sets — behavioral + technical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69080" y="1188720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60520" y="1225296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122529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STAR Stories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151790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3 metrics-driven behavioral examples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69080" y="1901952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60520" y="193852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193852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LinkedIn Summary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223113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Search-optimized About section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069080" y="2615184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60520" y="265176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26517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Intro Scripts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3440" y="294436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1, 2, 3-minute intros by level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069080" y="3328415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60520" y="3364991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63440" y="3364991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Matching Jobs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63440" y="3657599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Titles, companies, 7-country boards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069080" y="4041648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60520" y="4078224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11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63440" y="407822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Visa Pathways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63440" y="437083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All immigration routes + govt URLs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069080" y="4754880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60520" y="4791456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12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40" y="479145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Thank You Email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63440" y="508406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Post-interview differentiator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63840" y="1188720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55280" y="1225296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13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58200" y="122529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Salary Negotiation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58200" y="151790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Market table + word-for-word scripts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863840" y="1901952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55280" y="193852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14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58200" y="193852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Action Plan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58200" y="223113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30-60-90 day structured career plan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863840" y="2615184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955280" y="265176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15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58200" y="26517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Cold Outreach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58200" y="294436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LinkedIn DM + cold email templates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63840" y="3328415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55280" y="3364991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16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58200" y="3364991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Career Pivot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58200" y="3657599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Adjacent roles + 90-day roadmap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863840" y="4041648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955280" y="4078224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17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458200" y="407822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Country Laws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458200" y="437083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Labor law + ATS compliance by country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</a:rPr>
              <a:t>+ Live Jobs  ·  ISCO-08 Similar Roles  ·  Top-1% Hiring Framework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AZURE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78D4"/>
                </a:solidFill>
              </a:rPr>
              <a:t>100% Microsoft Azure Cloud Ecosystem — rg-v3 · Canada East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11430000" cy="685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133856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USER BROWSER / PWA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44475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195 countries · Any device · Zero install · Progressive Web App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20240"/>
            <a:ext cx="11430000" cy="685800"/>
          </a:xfrm>
          <a:prstGeom prst="rect">
            <a:avLst/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956816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AZURE STATIC WEB APPS — Global CDN 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26771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React / Next.js · Auto-deploy from GitHub Actions · TLS 1.3 · Nearest edge node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743200"/>
            <a:ext cx="11430000" cy="685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2779776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AZURE FUNCTIONS v2 — Python Serverless 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09067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POST /career  ·  POST /chat  ·  POST /jobs  ·  GET /location  ·  GET /health  ·  POST /upload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566160"/>
            <a:ext cx="2651760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6118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Azure OpenAI
GPT-4o-mini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1879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Primary AI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3566160"/>
            <a:ext cx="2651760" cy="10972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36118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Azure AI Search
Semantic + Vector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41879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RAG Retrieval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3566160"/>
            <a:ext cx="2651760" cy="10972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36118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Azure Key Vault
RBAC + Secrets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1879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Security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2560" y="3566160"/>
            <a:ext cx="2651760" cy="10972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36118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Azure Content Safety
Output Moderation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41879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AI Safety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800600"/>
            <a:ext cx="5486400" cy="914400"/>
          </a:xfrm>
          <a:prstGeom prst="rect">
            <a:avLst/>
          </a:prstGeom>
          <a:solidFill>
            <a:srgbClr val="1A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4828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</a:rPr>
              <a:t>RAG KNOWLEDGE ENGINE — 28 Files · 1M+ Tokens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51389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436 occupations · 195 countries · 900+ skills · Future jobs 2026–2125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4800600"/>
            <a:ext cx="5852160" cy="914400"/>
          </a:xfrm>
          <a:prstGeom prst="rect">
            <a:avLst/>
          </a:prstGeom>
          <a:solidFill>
            <a:srgbClr val="1A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482803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</a:rPr>
              <a:t>AI FALLBACK CHAIN — 4 Providers · 8 Models · 99.9% Uptime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5138928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Azure OpenAI → Gemini KEY1 → Gemini KEY2 → xAI Grok-4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</a:rPr>
              <a:t>GitHub Actions CI/CD  ·  Zero downtime deploy  ·  Auto-scale to millions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TECHNOLOGY STACK — A TO 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2C55E"/>
                </a:solidFill>
              </a:rPr>
              <a:t>Every tool, platform, language, and service used to build Alfalah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3749039" cy="2377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3749039" cy="38404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2529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AZURE CLOUD (100%)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27632"/>
            <a:ext cx="35661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Static Web Apps · Functions v2 · OpenAI Service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AI Search · Key Vault · Content Safety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Entra ID B2C · Cosmos DB · Monitor / App Insights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188720"/>
            <a:ext cx="3749039" cy="2377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1188720"/>
            <a:ext cx="3749039" cy="38404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79" y="122529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AI &amp;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79" y="1627632"/>
            <a:ext cx="35661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GPT-4o-mini (Azure OpenAI) — Primary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Gemini 2.0 Flash / 1.5 Flash (Google AI Studio)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xAI Grok-4-latest — Final fallback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Custom RAG Engine — 99% structured 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188720"/>
            <a:ext cx="3749039" cy="2377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188720"/>
            <a:ext cx="3749039" cy="3840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22529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LANGUAGES &amp; RUNTIMES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627632"/>
            <a:ext cx="35661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Python 3.11+ — Azure Functions backend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JavaScript ES2022 / TypeScript 5.x — Frontend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HTML5 · CSS3 · Tailwind CSS 3.x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Bash / PowerShell — Deployment scripts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749039"/>
            <a:ext cx="3749039" cy="2377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749039"/>
            <a:ext cx="3749039" cy="3840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785615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DEV TOOLS &amp; 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187952"/>
            <a:ext cx="35661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Visual Studio Code — Primary IDE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Claude Code (Anthropic) — AI pair programmer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GitHub Copilot — Code completion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Azure Functions Core Tools v4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Postman — API testing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3749039"/>
            <a:ext cx="3749039" cy="2377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06240" y="3749039"/>
            <a:ext cx="3749039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79" y="3785615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FRAMEWORKS &amp; STANDARDS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4187952"/>
            <a:ext cx="35661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Next.js 14 · React 18 · Tailwind CSS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Progressive Web App (W3C Standard)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ISCO-08 (ILO) · ESCO · O*NET · NOC · SOC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Microsoft Responsible AI Standard v2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3749039"/>
            <a:ext cx="3749039" cy="2377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749039"/>
            <a:ext cx="3749039" cy="3840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785615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DATA &amp; KNOWLEDGE 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187952"/>
            <a:ext cx="35661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28 structured Markdown knowledge files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436 ISCO-08 occupations · 195 country packages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900+ skills A-Z · Future occupations 2026–2125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Serper.dev (Google Jobs) · ipapi.co (Geo)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RAG KNOWLEDGE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B5CF6"/>
                </a:solidFill>
              </a:rPr>
              <a:t>99% Structured Career Science · 1% Azure OpenAI Formatting · Zero Hallucination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</a:rPr>
              <a:t>What makes Alfalah AI different from every other AI career tool: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E5E7EB"/>
                </a:solidFill>
              </a:rPr>
              <a:t>▸  Every other AI career tool asks the LLM to guess — and LLMs hallucinate salary ranges, visa requirements, and labor laws.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5E7EB"/>
                </a:solidFill>
              </a:rPr>
              <a:t>▸  Alfalah AI retrieves structured facts first, THEN asks the LLM to format them into professional language.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5E7EB"/>
                </a:solidFill>
              </a:rPr>
              <a:t>▸  This means our salary data is correct. Our visa routes are accurate. Our labor laws are authoritative.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926080"/>
            <a:ext cx="1737360" cy="13716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944368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436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6118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ISCO-08
Occupations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2926080"/>
            <a:ext cx="173736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2944368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195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6118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Country
Data Packages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2926080"/>
            <a:ext cx="1737360" cy="1371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2944368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900+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36118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Skills
A-Z Master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2926080"/>
            <a:ext cx="1737360" cy="13716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2944368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6118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Knowledge
Base Files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2926080"/>
            <a:ext cx="1737360" cy="1371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2944368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1M+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6118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Structured
Tokens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66960" y="2926080"/>
            <a:ext cx="173736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66960" y="2944368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3,000+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36118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ESCO
Occupations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4805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8D4"/>
                </a:solidFill>
              </a:rPr>
              <a:t>SOURCES: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48056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ILO (ISCO-08)  ·  European Commission (ESCO)  ·  US Dept of Labor (O*NET)  ·  Statistics Canada (NOC)  ·  US BLS (SOC)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983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</a:rPr>
              <a:t>Azure AI Search — Semantic + Vector retrieval across all 28 files — top-k chunk retrieval per query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577840"/>
            <a:ext cx="11430000" cy="7772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6235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1">
                <a:solidFill>
                  <a:srgbClr val="F59E0B"/>
                </a:solidFill>
              </a:rPr>
              <a:t>"We did not build an AI that guesses. We built an AI that knows."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RESPONSIBLE AI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2C55E"/>
                </a:solidFill>
              </a:rPr>
              <a:t>Microsoft Responsible AI Standard v2 · EU AI Act Aligned · GRC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577840" cy="14630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577840" cy="3657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225296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FAIRNESS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60020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Analysis based solely on skills, experience, and role requirements.
No demographic inference. No bias by nationality, age, or gender.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188720"/>
            <a:ext cx="5577840" cy="14630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188720"/>
            <a:ext cx="5577840" cy="3657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225296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RELIABILITY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60020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4-provider, 8-model fallback chain.
Platform never goes dark. 99.9%+ uptime guaranteed.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834640"/>
            <a:ext cx="5577840" cy="14630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834640"/>
            <a:ext cx="5577840" cy="3657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2871216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PRIVACY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324612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Zero data storage by architecture — not just policy.
No resume. No PII. No session data. Ever.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2834640"/>
            <a:ext cx="5577840" cy="14630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2834640"/>
            <a:ext cx="5577840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2871216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24612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Azure Key Vault · RBAC · Content Safety · TLS 1.3
Input sanitization · Rate limiting · 50KB body guard.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480560"/>
            <a:ext cx="5577840" cy="14630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4480560"/>
            <a:ext cx="557784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4517136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INCLUSIVENESS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79" y="48920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195 countries · 15 industries · Accessibility guides
for youth (5-18), seniors (55+), and people with disabilities.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4480560"/>
            <a:ext cx="5577840" cy="14630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4480560"/>
            <a:ext cx="557784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4517136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TRANSPARENCY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48920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ATS scoring dimensions disclosed to users.
RAG sources cited. Full methodology published in /docs/.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59E0B"/>
                </a:solidFill>
              </a:rPr>
              <a:t>https://shahzad-job-coach-ai.vercel.app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5669280" cy="1508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5669280" cy="34747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2710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1 — SPLASH SCREEN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618488"/>
            <a:ext cx="54864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Show the 5-phase smart splash: IP auto-detection → country confirmed → industry selected.
Point out: 195-country coverage, zero login required.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926080"/>
            <a:ext cx="5669280" cy="1508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926080"/>
            <a:ext cx="5669280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296265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2 — UPLOAD RESUME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3310128"/>
            <a:ext cx="54864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Paste or upload a sample resume. Show PDF/DOCX/TXT support.
Explain: extracted in memory — never written to disk.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617720"/>
            <a:ext cx="5669280" cy="1508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4617720"/>
            <a:ext cx="5669280" cy="3474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465429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3 — AI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5001768"/>
            <a:ext cx="54864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Click Analyze. Show the 30-second loading state.
Explain the RAG pipeline running in Azure Functions.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234440"/>
            <a:ext cx="5669280" cy="1508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234440"/>
            <a:ext cx="5669280" cy="34747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2710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4 — 17 MODULES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1618488"/>
            <a:ext cx="54864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Scroll through the results dashboard. Highlight:
• Resume Score with 8 dimensions
• Recruiter POV — 6-second simulation
• Visa Pathways — show for a cross-country example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926080"/>
            <a:ext cx="5669280" cy="1508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2926080"/>
            <a:ext cx="566928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7648" y="296265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5 — COUNTRY AWARENESS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3310128"/>
            <a:ext cx="54864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Change country. Show how salary data changes to local currency.
Show how visa pathways change. This is the differentiator.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617720"/>
            <a:ext cx="5669280" cy="1508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4617720"/>
            <a:ext cx="5669280" cy="3474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7648" y="465429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6 — LIVE JOBS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5001768"/>
            <a:ext cx="54864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Scroll to live job postings — real listings from Google Jobs, last 7 days, country-filtered.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GLOBAL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6B35"/>
                </a:solidFill>
              </a:rPr>
              <a:t>Who benefits. How. Why it matters for humanity.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577840" cy="20116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26187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</a:rPr>
              <a:t>🇵🇰 FATIMA, 24 — LAHORE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691640"/>
            <a:ext cx="5303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Computer Science graduate. Zero career guidance available locally.
Alfalah AI gives her a top-1% resume, a Canadian work visa pathway,
and a salary negotiation script — in 30 seconds. Free.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188720"/>
            <a:ext cx="5577840" cy="20116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26187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</a:rPr>
              <a:t>🇳🇬 CHUKWU, 31 — LAGOS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91640"/>
            <a:ext cx="5303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Mechanical engineer. Rejected 40 times. Does not know why.
Alfalah AI shows him ATS rejection reasons, rewrites his resume
with impact-first bullets, and identifies 3 certifications he needs.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383280"/>
            <a:ext cx="5577840" cy="20116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345643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</a:rPr>
              <a:t>🇮🇳 PRIYA, 45 — BANGALORE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886200"/>
            <a:ext cx="5303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15 years experience. Wants to pivot to data science.
Alfalah AI gives her a pivot score, adjacent role roadmap,
and a 90-day transition plan with specific upskilling milestones.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3383280"/>
            <a:ext cx="5577840" cy="20116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345643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</a:rPr>
              <a:t>🇿🇦 SIPHO, 58 — JOHANNESBURG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3886200"/>
            <a:ext cx="5303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Lost job in restructuring. 55+ re-entry is brutal.
Alfalah AI has a specific seniors career guide, identifies transferable
skills, and generates cold outreach templates for his network.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52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1">
                <a:solidFill>
                  <a:srgbClr val="F59E0B"/>
                </a:solidFill>
              </a:rPr>
              <a:t>These are not hypothetical users. These are the 8 billion people this platform was built to serve.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WHY MICROSOFT AZURE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78D4"/>
                </a:solidFill>
              </a:rPr>
              <a:t>Not just cloud infrastructure. A values-aligned partnership.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577840" cy="148132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164592" cy="14813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618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8D4"/>
                </a:solidFill>
              </a:rPr>
              <a:t>AI FOR GOOD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27632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Microsoft's AI for Good initiative aligns perfectly with our mission.
Azure enables free-tier infrastructure that makes a truly free global platform possible.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188720"/>
            <a:ext cx="5577840" cy="148132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188720"/>
            <a:ext cx="164592" cy="14813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2618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GLOBAL PRESENCE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627632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Azure has 60+ regions globally — our users in 195 countries get
low-latency performance from their nearest Azure edge node.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834640"/>
            <a:ext cx="5577840" cy="148132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834640"/>
            <a:ext cx="164592" cy="14813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90779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</a:rPr>
              <a:t>RESPONSIBLE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73552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Azure Content Safety, Key Vault, RBAC, and the Responsible AI Standard v2
gave us enterprise-grade trust infrastructure for a free public platform.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2834640"/>
            <a:ext cx="5577840" cy="148132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2834640"/>
            <a:ext cx="164592" cy="14813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90779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</a:rPr>
              <a:t>INTEGRATED AI STACK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273552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Azure OpenAI + AI Search + Content Safety are deeply integrated.
No glue code between providers. One identity, one billing, one audit trail.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480560"/>
            <a:ext cx="5577840" cy="148132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4480560"/>
            <a:ext cx="164592" cy="14813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55371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COMPLIANCE READY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919472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Azure's compliance certifications — SOC2, ISO27001, GDPR, HIPAA —
mean our platform is enterprise-compliant from day one.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4480560"/>
            <a:ext cx="5577840" cy="148132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4480560"/>
            <a:ext cx="164592" cy="14813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55371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</a:rPr>
              <a:t>HACKATHON ALIGNMENT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919472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This project demonstrates the full Azure AI ecosystem in production:
Static Web Apps + Functions + OpenAI + AI Search + Key Vault = one cohesive solution.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B5CF6"/>
                </a:solidFill>
              </a:rPr>
              <a:t>Where we have been. Where we are going. Why the prize accelerates everything.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2148840" cy="50292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2148840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0700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V1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2527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Mar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642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</a:rPr>
              <a:t>COMPLETE 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011680"/>
            <a:ext cx="2011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12 AI career modules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Resume analysis + ATS scoring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Deployed live on Vercel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Submitted H1 Hackathon ($6K)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39" y="1188720"/>
            <a:ext cx="2148840" cy="50292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06039" y="1188720"/>
            <a:ext cx="2148840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79" y="120700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V2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39" y="12527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Mar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79" y="16642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</a:rPr>
              <a:t>COMPLETE 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79" y="2011680"/>
            <a:ext cx="2011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17 modules + RAG engine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195 countries + industry awareness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Gemini + Grok fallback chain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PWA mobile-ready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59" y="1188720"/>
            <a:ext cx="2148840" cy="50292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37759" y="1188720"/>
            <a:ext cx="214884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199" y="120700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V3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59" y="12527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Mar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199" y="16642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ACTIVE 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199" y="2011680"/>
            <a:ext cx="2011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100% Azure cloud ecosystem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Python Functions backend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AI Search + Key Vault + GRC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THIS PRESENTATION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69479" y="1188720"/>
            <a:ext cx="2148840" cy="50292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69479" y="1188720"/>
            <a:ext cx="2148840" cy="4572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60919" y="120700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V4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12527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2026 Q3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19" y="16642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8D4"/>
                </a:solidFill>
              </a:rPr>
              <a:t>PLANNED 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19" y="2011680"/>
            <a:ext cx="2011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React Native mobile app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Cosmos DB for analytics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Multi-language (40+ languages)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Voice input + accessibility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0" y="1188720"/>
            <a:ext cx="2148840" cy="50292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01200" y="1188720"/>
            <a:ext cx="2148840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0" y="120700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V5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12527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2026 Q4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16642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</a:rPr>
              <a:t>PLANNED 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2011680"/>
            <a:ext cx="2011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alfalah.app domain live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Azure Marketplace listing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Enterprise API tier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1 million users target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989320"/>
            <a:ext cx="11430000" cy="5943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0350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</a:rPr>
              <a:t>With the $10,000 prize: V4 React Native launch + alfalah.app domain + Azure Marketplace + 40-language rollout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1">
                <a:solidFill>
                  <a:srgbClr val="F59E0B"/>
                </a:solidFill>
              </a:rPr>
              <a:t>"We ask not for recognition — we ask for the resources
to reach the next billion people who need this."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057400"/>
            <a:ext cx="11155680" cy="89611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057400"/>
            <a:ext cx="182880" cy="89611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2140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$10,000 PRIZE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2167128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7EB"/>
                </a:solidFill>
              </a:rPr>
              <a:t>V4 React Native app + 40-language rollout + alfalah.app domain + Azure Marketplace listing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108960"/>
            <a:ext cx="11155680" cy="89611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3108960"/>
            <a:ext cx="182880" cy="89611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17296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</a:rPr>
              <a:t>AZURE CREDITS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218688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7EB"/>
                </a:solidFill>
              </a:rPr>
              <a:t>Scaling Azure AI Search to index full 28-file knowledge base at production volume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160520"/>
            <a:ext cx="11155680" cy="89611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4160520"/>
            <a:ext cx="182880" cy="89611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22452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</a:rPr>
              <a:t>MICROSOFT NETWORK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4270248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7EB"/>
                </a:solidFill>
              </a:rPr>
              <a:t>Introductions to Microsoft for Startups, AI for Good, and social impact partnerships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212079"/>
            <a:ext cx="11155680" cy="89611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5212079"/>
            <a:ext cx="182880" cy="89611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27608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</a:rPr>
              <a:t>VISIBILITY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5321807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7EB"/>
                </a:solidFill>
              </a:rPr>
              <a:t>Case study on Microsoft Azure blog — so other builders know what is possible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807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E5E7EB"/>
                </a:solidFill>
              </a:rPr>
              <a:t>What we give back: A free platform for 8 billion people, built on Azure, demonstrating the full AI stack.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914400"/>
            <a:ext cx="121889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59E0B"/>
                </a:solidFill>
              </a:rPr>
              <a:t>الفلاح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19456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FFFFFF"/>
                </a:solidFill>
              </a:rPr>
              <a:t>Come to Success.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78892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78D4"/>
                </a:solidFill>
              </a:rPr>
              <a:t>For every human on Earth.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3474720"/>
            <a:ext cx="6702552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361188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ALFALAH AI 2026 V3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25196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5E7EB"/>
                </a:solidFill>
              </a:rPr>
              <a:t>🌐 shahzad-job-coach-ai.vercel.app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4636008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5E7EB"/>
                </a:solidFill>
              </a:rPr>
              <a:t>💻 github.com/shahzadms7/v3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020056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5E7EB"/>
                </a:solidFill>
              </a:rPr>
              <a:t>📐 See ARCHITECTURE.md for full system diagram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4864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</a:rPr>
              <a:t>Shahzad Muhammad  ·  Mississauga, Ontario, Canada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585216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</a:rPr>
              <a:t>Built on Microsoft Azure  ·  Free Forever  ·  Open Source MIT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