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 — TITLE (45 seconds)</a:t>
            </a:r>
          </a:p>
          <a:p>
            <a:r>
              <a:t>Good [morning/afternoon]. I'm Shahzad Muhammad from Mississauga, Canada.</a:t>
            </a:r>
          </a:p>
          <a:p>
            <a:r>
              <a:t>Alfalah — the Arabic word means Come to Success — prosperity and flourishing.</a:t>
            </a:r>
          </a:p>
          <a:p>
            <a:r>
              <a:t>This platform exists for one reason: career guidance should be a human right, not a luxury.</a:t>
            </a:r>
          </a:p>
          <a:p>
            <a:r>
              <a:t>195 countries. 20 AI tools. Zero cost. 100% Microsoft Azure. Built in 31 sessions.</a:t>
            </a:r>
          </a:p>
          <a:p>
            <a:r>
              <a:t>In the next few minutes I'll show you what we built and why it matters for 8 billion people.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— THE PROBLEM (60 seconds)</a:t>
            </a:r>
          </a:p>
          <a:p>
            <a:r>
              <a:t>The career guidance industry is broken for most of humanity.</a:t>
            </a:r>
          </a:p>
          <a:p>
            <a:r>
              <a:t>1.4 billion people unemployed or underemployed — ILO 2025.</a:t>
            </a:r>
          </a:p>
          <a:p>
            <a:r>
              <a:t>87% of emerging-market job seekers have NEVER received professional resume guidance.</a:t>
            </a:r>
          </a:p>
          <a:p>
            <a:r>
              <a:t>75% of resumes are rejected by ATS systems before a human ever reads them.</a:t>
            </a:r>
          </a:p>
          <a:p>
            <a:r>
              <a:t>Career coaching costs $200-$500 per hour — a month's salary in most countries.</a:t>
            </a:r>
          </a:p>
          <a:p>
            <a:r>
              <a:t>Tools like LinkedIn Premium, Resume.io, Hiration — built for 3 to 5 wealthy nations only.</a:t>
            </a:r>
          </a:p>
          <a:p>
            <a:r>
              <a:t>There was no free, truly global, AI-powered platform before today. We built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— THE SOLUTION (60 seconds)</a:t>
            </a:r>
          </a:p>
          <a:p>
            <a:r>
              <a:t>The user uploads their resume — PDF, DOCX, or TXT, processed in memory only.</a:t>
            </a:r>
          </a:p>
          <a:p>
            <a:r>
              <a:t>They pick their country from 195 options and their industry from 15 categories.</a:t>
            </a:r>
          </a:p>
          <a:p>
            <a:r>
              <a:t>Azure Content Safety screens the input first — Hate, Violence, Self-Harm, Sexual.</a:t>
            </a:r>
          </a:p>
          <a:p>
            <a:r>
              <a:t>Then 4 parallel Azure OpenAI calls fire simultaneously via Python ThreadPoolExecutor.</a:t>
            </a:r>
          </a:p>
          <a:p>
            <a:r>
              <a:t>The RAG engine retrieves verified facts from 35 knowledge files before any AI writes text.</a:t>
            </a:r>
          </a:p>
          <a:p>
            <a:r>
              <a:t>Result: 20 professional career tools in under 15 seconds.</a:t>
            </a:r>
          </a:p>
          <a:p>
            <a:r>
              <a:t>Zero data stored. Free forever. No login. No account. No paywall.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— 20 TOOLS (75 seconds)</a:t>
            </a:r>
          </a:p>
          <a:p>
            <a:r>
              <a:t>Twenty tools. One analysis. Under 15 seconds. Each is a professional deliverable.</a:t>
            </a:r>
          </a:p>
          <a:p>
            <a:r>
              <a:t>Resume Score: 8 weighted dimensions — content, impact, ATS, format, length, recency, keywords, structure.</a:t>
            </a:r>
          </a:p>
          <a:p>
            <a:r>
              <a:t>Recruiter POV: simulates the 6-second hiring manager skim. Brutal, honest, actionable.</a:t>
            </a:r>
          </a:p>
          <a:p>
            <a:r>
              <a:t>Cover Letter: Top-1% framework — specific hook, 3 quantified wins, confident close with CTA.</a:t>
            </a:r>
          </a:p>
          <a:p>
            <a:r>
              <a:t>Visa Pathways: ALL immigration routes with official government URLs. Not guesses — verified links.</a:t>
            </a:r>
          </a:p>
          <a:p>
            <a:r>
              <a:t>Salary Negotiation: market table from Entry to VP, plus word-for-word anchor and counter scripts.</a:t>
            </a:r>
          </a:p>
          <a:p>
            <a:r>
              <a:t>JD Template: professional job description generated for the exact role being analyzed.</a:t>
            </a:r>
          </a:p>
          <a:p>
            <a:r>
              <a:t>This is what a $500/hr coach produces. In 15 seconds. Free. For 195 countries.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— AZURE ARCHITECTURE (90 seconds)</a:t>
            </a:r>
          </a:p>
          <a:p>
            <a:r>
              <a:t>100% Microsoft Azure — resource group rg-v3, East US region.</a:t>
            </a:r>
          </a:p>
          <a:p>
            <a:r>
              <a:t>Azure Functions v2 Python 3.12 — 10 API endpoints, serverless, scales to zero, scales to millions.</a:t>
            </a:r>
          </a:p>
          <a:p>
            <a:r>
              <a:t>Every request hits Azure Content Safety first before any AI call — 4 categories, severity threshold 4.</a:t>
            </a:r>
          </a:p>
          <a:p>
            <a:r>
              <a:t>Azure AI Search indexes 289+ RAG chunks. Local BM25 fallback if search is unavailable — never fails.</a:t>
            </a:r>
          </a:p>
          <a:p>
            <a:r>
              <a:t>Azure Key Vault holds every secret — azure-identity managed identity, zero credentials in code.</a:t>
            </a:r>
          </a:p>
          <a:p>
            <a:r>
              <a:t>The frontend is a single HTML file served directly from Azure Functions — no separate hosting needed.</a:t>
            </a:r>
          </a:p>
          <a:p>
            <a:r>
              <a:t>GitHub Actions: every push to main deploys in under 2 minutes. Zero downtime serverless swap.</a:t>
            </a:r>
          </a:p>
          <a:p>
            <a:r>
              <a:t>Health check live now: govrag-v3-func.azurewebsites.net/api/health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— TECHNOLOGY STACK (45 seconds)</a:t>
            </a:r>
          </a:p>
          <a:p>
            <a:r>
              <a:t>Python 3.12 on Azure Functions v2 decorator model — no containers, no orchestration overhead.</a:t>
            </a:r>
          </a:p>
          <a:p>
            <a:r>
              <a:t>httpx for synchronous Azure OpenAI calls inside ThreadPoolExecutor — 4 workers, all parallel.</a:t>
            </a:r>
          </a:p>
          <a:p>
            <a:r>
              <a:t>pdfminer.six as primary PDF extractor, pymupdf as fallback — pure Python, no native deps on Azure.</a:t>
            </a:r>
          </a:p>
          <a:p>
            <a:r>
              <a:t>pydantic-settings for configuration from environment variables — nothing hardcoded.</a:t>
            </a:r>
          </a:p>
          <a:p>
            <a:r>
              <a:t>Frontend: pure HTML, CSS, vanilla JavaScript — no framework, no build step, instant cold start.</a:t>
            </a:r>
          </a:p>
          <a:p>
            <a:r>
              <a:t>Claude Code by Anthropic was the AI pair programmer — 31 sessions, March 6-26, 2026.</a:t>
            </a:r>
          </a:p>
          <a:p>
            <a:r>
              <a:t>Every dependency chosen for cold-start speed on consumption-tier serverless infrastructure.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 — RAG KNOWLEDGE ENGINE (90 seconds)</a:t>
            </a:r>
          </a:p>
          <a:p>
            <a:r>
              <a:t>This is the core innovation that separates Alfalah AI from every other career tool.</a:t>
            </a:r>
          </a:p>
          <a:p>
            <a:r>
              <a:t>Every other career AI asks the LLM to generate salary ranges, visa requirements, labor laws.</a:t>
            </a:r>
          </a:p>
          <a:p>
            <a:r>
              <a:t>LLMs hallucinate. We do not let them.</a:t>
            </a:r>
          </a:p>
          <a:p>
            <a:r>
              <a:t>We built the knowledge base first: 436 ISCO-08 occupation groups from the ILO standard.</a:t>
            </a:r>
          </a:p>
          <a:p>
            <a:r>
              <a:t>195 country packages — salary, visa routes, labor law, job boards for all 195 UN nations.</a:t>
            </a:r>
          </a:p>
          <a:p>
            <a:r>
              <a:t>900+ skills A-Z master matrix. Global salary benchmarks. Future occupations 2026-2125.</a:t>
            </a:r>
          </a:p>
          <a:p>
            <a:r>
              <a:t>Azure AI Search retrieves the verified facts. Azure OpenAI formats them into professional language.</a:t>
            </a:r>
          </a:p>
          <a:p>
            <a:r>
              <a:t>99% structured data. 1% AI formatting. Zero hallucination on facts that matter.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 — RESPONSIBLE AI (60 seconds)</a:t>
            </a:r>
          </a:p>
          <a:p>
            <a:r>
              <a:t>We implemented Microsoft Responsible AI Standard v2 end-to-end — six principles, all active.</a:t>
            </a:r>
          </a:p>
          <a:p>
            <a:r>
              <a:t>Fairness: analysis based solely on skills and experience. No demographic inference. No bias.</a:t>
            </a:r>
          </a:p>
          <a:p>
            <a:r>
              <a:t>Privacy by architecture — not just policy. Zero database. Zero storage.</a:t>
            </a:r>
          </a:p>
          <a:p>
            <a:r>
              <a:t>Refresh the page and your resume is gone from server memory. Forever. By design.</a:t>
            </a:r>
          </a:p>
          <a:p>
            <a:r>
              <a:t>Security: Azure Key Vault, RBAC, Content Safety, TLS, rate limiting, 5MB file guard.</a:t>
            </a:r>
          </a:p>
          <a:p>
            <a:r>
              <a:t>Inclusiveness: specific guides for youth 5-18, seniors 55+, and people with disabilities — all 195 countries.</a:t>
            </a:r>
          </a:p>
          <a:p>
            <a:r>
              <a:t>Transparency: ATS scoring methodology fully disclosed. RAG sources cited in every response.</a:t>
            </a:r>
          </a:p>
          <a:p>
            <a:r>
              <a:t>Enterprise-grade trust infrastructure on a free public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 — LIVE DEMO (2 minutes)</a:t>
            </a:r>
          </a:p>
          <a:p>
            <a:r>
              <a:t>[Open govrag-v3-func.azurewebsites.net]</a:t>
            </a:r>
          </a:p>
          <a:p>
            <a:r>
              <a:t>No login. No account. Zero friction. IP auto-detects your country immediately.</a:t>
            </a:r>
          </a:p>
          <a:p>
            <a:r>
              <a:t>[Upload sample resume] PDF processed in memory — never written to disk. Extracted in under 2 seconds.</a:t>
            </a:r>
          </a:p>
          <a:p>
            <a:r>
              <a:t>[Click Analyze] — 4 parallel Azure OpenAI calls fire right now via ThreadPoolExecutor.</a:t>
            </a:r>
          </a:p>
          <a:p>
            <a:r>
              <a:t>[Show Resume Score] — 8 weighted dimensions, composite score 0-100, detailed breakdown.</a:t>
            </a:r>
          </a:p>
          <a:p>
            <a:r>
              <a:t>[Show Recruiter POV] — brutal 6-second hiring manager verdict. Red flags. Quick wins.</a:t>
            </a:r>
          </a:p>
          <a:p>
            <a:r>
              <a:t>[Show Visa Pathways] — change country. See official government URLs for all work visa routes.</a:t>
            </a:r>
          </a:p>
          <a:p>
            <a:r>
              <a:t>[Show Salary] — local currency. Market ranges Entry to VP. Word-for-word negotiation scripts.</a:t>
            </a:r>
          </a:p>
          <a:p>
            <a:r>
              <a:t>[Show Live Jobs] — real listings from Remotive API, last 7 days. Free. No API key.</a:t>
            </a:r>
          </a:p>
          <a:p>
            <a:r>
              <a:t>Total: 20 professional outputs in under 15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 — GLOBAL IMPACT (60 seconds)</a:t>
            </a:r>
          </a:p>
          <a:p>
            <a:r>
              <a:t>Let me put human faces on the data.</a:t>
            </a:r>
          </a:p>
          <a:p>
            <a:r>
              <a:t>Fatima, 24, Lahore — CS graduate. Zero local career guidance. Alfalah gives her a top-1% resume,</a:t>
            </a:r>
          </a:p>
          <a:p>
            <a:r>
              <a:t>Canadian work visa pathway, and salary negotiation script. In 15 seconds. Free.</a:t>
            </a:r>
          </a:p>
          <a:p>
            <a:r>
              <a:t>Chukwu, 31, Lagos — engineer, rejected 40 times without knowing why.</a:t>
            </a:r>
          </a:p>
          <a:p>
            <a:r>
              <a:t>We show him the ATS rejection reasons, rewrite his resume, identify the 3 certs he needs.</a:t>
            </a:r>
          </a:p>
          <a:p>
            <a:r>
              <a:t>Priya, 45, Bangalore — wants to pivot to data science.</a:t>
            </a:r>
          </a:p>
          <a:p>
            <a:r>
              <a:t>Pivot score, adjacent roles, 90-day transition plan with milestones.</a:t>
            </a:r>
          </a:p>
          <a:p>
            <a:r>
              <a:t>Sipho, 58, Johannesburg — lost job in restructuring. 55+ re-entry is brutal.</a:t>
            </a:r>
          </a:p>
          <a:p>
            <a:r>
              <a:t>Dedicated seniors career guide. Transferable skills identified. Cold outreach templates generated.</a:t>
            </a:r>
          </a:p>
          <a:p>
            <a:r>
              <a:t>These are the 8 billion people this platform was built to serve.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 — WHY MICROSOFT AZURE (45 seconds)</a:t>
            </a:r>
          </a:p>
          <a:p>
            <a:r>
              <a:t>Why Azure? Because Azure's mission and our mission are the same statement.</a:t>
            </a:r>
          </a:p>
          <a:p>
            <a:r>
              <a:t>Microsoft: technology for every person and every organization on the planet.</a:t>
            </a:r>
          </a:p>
          <a:p>
            <a:r>
              <a:t>Alfalah AI: career guidance for every human on Earth.</a:t>
            </a:r>
          </a:p>
          <a:p>
            <a:r>
              <a:t>Azure's integrated AI stack — OpenAI, AI Search, Content Safety — eliminates glue code.</a:t>
            </a:r>
          </a:p>
          <a:p>
            <a:r>
              <a:t>One identity, one billing, one audit trail. Enterprise compliance from day one: SOC2, ISO27001, GDPR.</a:t>
            </a:r>
          </a:p>
          <a:p>
            <a:r>
              <a:t>60+ global regions means low-latency for users in all 195 countries.</a:t>
            </a:r>
          </a:p>
          <a:p>
            <a:r>
              <a:t>Azure consumption pricing made a truly free global platform economically possible.</a:t>
            </a:r>
          </a:p>
          <a:p>
            <a:r>
              <a:t>This is not just infrastructure. This is a values-aligned partnership.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12 — ROADMAP (45 seconds)</a:t>
            </a:r>
          </a:p>
          <a:p>
            <a:r>
              <a:t>Three versions shipped in one month. All deployed to production.</a:t>
            </a:r>
          </a:p>
          <a:p>
            <a:r>
              <a:t>V1: March 8 — 12 modules, live on Vercel, submitted to H1 Hackathon.</a:t>
            </a:r>
          </a:p>
          <a:p>
            <a:r>
              <a:t>V2: March 14 — 20 tools, RAG engine, 195 countries, industry awareness, PWA mobile-ready.</a:t>
            </a:r>
          </a:p>
          <a:p>
            <a:r>
              <a:t>V3: March 26 — 100% Azure, Python Functions, AI Search, Key Vault, GRC. Live today.</a:t>
            </a:r>
          </a:p>
          <a:p>
            <a:r>
              <a:t>V4 planned: React Native mobile app, Cosmos DB analytics, 40+ languages, voice input.</a:t>
            </a:r>
          </a:p>
          <a:p>
            <a:r>
              <a:t>V5 planned: alfalah.app domain, Azure Marketplace, enterprise API tier, 1 million users.</a:t>
            </a:r>
          </a:p>
          <a:p>
            <a:r>
              <a:t>One developer. One mission. No funding yet. Imagine what happens with hackathon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13 — THE ASK (30 seconds)</a:t>
            </a:r>
          </a:p>
          <a:p>
            <a:r>
              <a:t>We ask for four things.</a:t>
            </a:r>
          </a:p>
          <a:p>
            <a:r>
              <a:t>The prize — to fund V4 React Native and the alfalah.app domain.</a:t>
            </a:r>
          </a:p>
          <a:p>
            <a:r>
              <a:t>Azure credits — to scale AI Search to full production indexing volume.</a:t>
            </a:r>
          </a:p>
          <a:p>
            <a:r>
              <a:t>Microsoft network — introductions to Microsoft for Startups and AI for Good.</a:t>
            </a:r>
          </a:p>
          <a:p>
            <a:r>
              <a:t>Visibility — a case study on the Azure blog so other mission-driven builders know what is possible.</a:t>
            </a:r>
          </a:p>
          <a:p>
            <a:r>
              <a:t>What we give back: a free platform for 8 billion people, on Azure, open source MIT.</a:t>
            </a:r>
          </a:p>
          <a:p>
            <a:r>
              <a:t>That is the ask. That is what we will do with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14 — CLOSING / THANK YOU (30 seconds)</a:t>
            </a:r>
          </a:p>
          <a:p>
            <a:r>
              <a:t>Alfalah. Come to Success. For every human on Earth.</a:t>
            </a:r>
          </a:p>
          <a:p>
            <a:r>
              <a:t>Platform live: govrag-v3-func.azurewebsites.net</a:t>
            </a:r>
          </a:p>
          <a:p>
            <a:r>
              <a:t>Health check: govrag-v3-func.azurewebsites.net/api/health</a:t>
            </a:r>
          </a:p>
          <a:p>
            <a:r>
              <a:t>Source code: github.com/shahzadms7/v3</a:t>
            </a:r>
          </a:p>
          <a:p>
            <a:r>
              <a:t>Built by Shahzad Muhammad. Mississauga, Ontario, Canada.</a:t>
            </a:r>
          </a:p>
          <a:p>
            <a:r>
              <a:t>100% Microsoft Azure. Free forever. Open source MIT.</a:t>
            </a:r>
          </a:p>
          <a:p>
            <a:r>
              <a:t>Thirty-one sessions. One developer. One mission.</a:t>
            </a:r>
          </a:p>
          <a:p>
            <a:r>
              <a:t>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15 — SYSTEM ARCHITECTURE (reference slide)</a:t>
            </a:r>
          </a:p>
          <a:p>
            <a:r>
              <a:t>This is the end-to-end technical architecture for reference or Q&amp;A.</a:t>
            </a:r>
          </a:p>
          <a:p>
            <a:r>
              <a:t>Azure Functions v2 handles all 10 API endpoints serverlessly.</a:t>
            </a:r>
          </a:p>
          <a:p>
            <a:r>
              <a:t>The /career endpoint: STEP 0 Content Safety screen -&gt; STEP 1 parse_resume (zero AI) -&gt;</a:t>
            </a:r>
          </a:p>
          <a:p>
            <a:r>
              <a:t>STEP 2 naked_truth_score (zero AI) -&gt; STEP 3 ats_score (zero AI) -&gt;</a:t>
            </a:r>
          </a:p>
          <a:p>
            <a:r>
              <a:t>STEP 4 Azure AI Search RAG retrieval -&gt; STEP 5 ThreadPoolExecutor 4 parallel OpenAI calls.</a:t>
            </a:r>
          </a:p>
          <a:p>
            <a:r>
              <a:t>All 20 tools return in one merged JSON response. Latency: 10-20 seconds end-to-end.</a:t>
            </a:r>
          </a:p>
          <a:p>
            <a:r>
              <a:t>The /decision endpoint is 100% algorithmic — zero AI cost, instant response.</a:t>
            </a:r>
          </a:p>
          <a:p>
            <a:r>
              <a:t>GitHub Actions deploys every main commit to Azure in under 2 minutes. Zero downtime.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36576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59E0B"/>
                </a:solidFill>
              </a:rPr>
              <a:t>الفلاح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32588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ALFALAH JOB CAREER INTELLIGENT AI  2026  V3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92024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78D4"/>
                </a:solidFill>
              </a:rPr>
              <a:t>Career Intelligence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2468880"/>
            <a:ext cx="6702552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260604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5E7EB"/>
                </a:solidFill>
              </a:rPr>
              <a:t>Built for 8 Billion People  ·  100% Microsoft Azure  ·  Free Forever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315468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F59E0B"/>
                </a:solidFill>
              </a:rPr>
              <a:t>"Come to Success — For Every Human on Earth"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3840480"/>
            <a:ext cx="2011680" cy="11887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8862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78D4"/>
                </a:solidFill>
              </a:rPr>
              <a:t>195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480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5E7EB"/>
                </a:solidFill>
              </a:rPr>
              <a:t>Countries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0" y="3840480"/>
            <a:ext cx="2011680" cy="11887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0" y="38862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78D4"/>
                </a:solidFill>
              </a:rPr>
              <a:t>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4480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5E7EB"/>
                </a:solidFill>
              </a:rPr>
              <a:t>AI Tools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3840480"/>
            <a:ext cx="2011680" cy="11887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8862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78D4"/>
                </a:solidFill>
              </a:rPr>
              <a:t>436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480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5E7EB"/>
                </a:solidFill>
              </a:rPr>
              <a:t>Occupations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59" y="3840480"/>
            <a:ext cx="2011680" cy="11887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59" y="38862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78D4"/>
                </a:solidFill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59" y="4480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5E7EB"/>
                </a:solidFill>
              </a:rPr>
              <a:t>Cost Forever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621792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</a:rPr>
              <a:t>Shahzad Muhammad  ·  Mississauga, Ontario, Canada  ·  2026</a:t>
            </a:r>
          </a:p>
        </p:txBody>
      </p:sp>
      <p:pic>
        <p:nvPicPr>
          <p:cNvPr id="23" name="Picture 22" descr="screencapture-govrag-v3-func-azurewebsites-net-2026-03-26-16_24_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274320"/>
            <a:ext cx="420624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PROBLEM WE SOLVE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6B35"/>
                </a:solidFill>
              </a:rPr>
              <a:t>1.4 Billion People. No Career Guidance. No Way Forward.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394960" cy="1234440"/>
          </a:xfrm>
          <a:prstGeom prst="rect">
            <a:avLst/>
          </a:prstGeom>
          <a:solidFill>
            <a:srgbClr val="1A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6B35"/>
                </a:solidFill>
              </a:rPr>
              <a:t>1.4 Billion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1168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people unemployed or underemployed globally (ILO 2025)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463040"/>
            <a:ext cx="5394960" cy="1234440"/>
          </a:xfrm>
          <a:prstGeom prst="rect">
            <a:avLst/>
          </a:prstGeom>
          <a:solidFill>
            <a:srgbClr val="1A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5087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6B35"/>
                </a:solidFill>
              </a:rPr>
              <a:t>87%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01168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of job seekers in emerging markets NEVER received professional resume guidance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880360"/>
            <a:ext cx="5394960" cy="1234440"/>
          </a:xfrm>
          <a:prstGeom prst="rect">
            <a:avLst/>
          </a:prstGeom>
          <a:solidFill>
            <a:srgbClr val="1A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9260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6B35"/>
                </a:solidFill>
              </a:rPr>
              <a:t>$200–$500/hr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4290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is what career coaches charge — unaffordable for most of the world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880360"/>
            <a:ext cx="5394960" cy="1234440"/>
          </a:xfrm>
          <a:prstGeom prst="rect">
            <a:avLst/>
          </a:prstGeom>
          <a:solidFill>
            <a:srgbClr val="1A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9260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6B35"/>
                </a:solidFill>
              </a:rPr>
              <a:t>75%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4290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of resumes are rejected by ATS systems before a human ever sees them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297680"/>
            <a:ext cx="5394960" cy="1234440"/>
          </a:xfrm>
          <a:prstGeom prst="rect">
            <a:avLst/>
          </a:prstGeom>
          <a:solidFill>
            <a:srgbClr val="1A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343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6B35"/>
                </a:solidFill>
              </a:rPr>
              <a:t>195 Countries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84632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but career tools only built for 3-5 wealthy nations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4297680"/>
            <a:ext cx="5394960" cy="1234440"/>
          </a:xfrm>
          <a:prstGeom prst="rect">
            <a:avLst/>
          </a:prstGeom>
          <a:solidFill>
            <a:srgbClr val="1A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4343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6B35"/>
                </a:solidFill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84632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free, truly global, AI-powered career platforms before today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0350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1">
                <a:solidFill>
                  <a:srgbClr val="F59E0B"/>
                </a:solidFill>
              </a:rPr>
              <a:t>The career guidance industry is broken for most of humanity. We fix that.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78D4"/>
                </a:solidFill>
              </a:rPr>
              <a:t>One Platform. Every Human. Every Country. Free Forever.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3200400" cy="41148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78D4"/>
                </a:solidFill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E5E7EB"/>
                </a:solidFill>
              </a:rPr>
              <a:t>→  📄 Resume (PDF/DOCX/TXT)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5E7EB"/>
                </a:solidFill>
              </a:rPr>
              <a:t>→  📋 Job Description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5E7EB"/>
                </a:solidFill>
              </a:rPr>
              <a:t>→  🌍 Your Country (195)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5E7EB"/>
                </a:solidFill>
              </a:rPr>
              <a:t>→  🏭 Your Industry (15)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31089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6B35"/>
                </a:solidFill>
              </a:rPr>
              <a:t>⚡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371600"/>
            <a:ext cx="2926080" cy="4114800"/>
          </a:xfrm>
          <a:prstGeom prst="rect">
            <a:avLst/>
          </a:prstGeom>
          <a:solidFill>
            <a:srgbClr val="0A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3716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B5CF6"/>
                </a:solidFill>
              </a:rPr>
              <a:t>AZURE AI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82880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E5E7EB"/>
                </a:solidFill>
              </a:rPr>
              <a:t>▸  GPT-4o-mini (Primary)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5E7EB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5E7EB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5E7EB"/>
                </a:solidFill>
              </a:rPr>
              <a:t>▸  RAG: 35 knowledge files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5E7EB"/>
                </a:solidFill>
              </a:rPr>
              <a:t>▸  436 ISCO-08 occupations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31089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2C55E"/>
                </a:solidFill>
              </a:rPr>
              <a:t>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1371600"/>
            <a:ext cx="3383280" cy="4114800"/>
          </a:xfrm>
          <a:prstGeom prst="rect">
            <a:avLst/>
          </a:prstGeom>
          <a:solidFill>
            <a:srgbClr val="03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3716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C55E"/>
                </a:solidFill>
              </a:rPr>
              <a:t>20 TOOLS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182880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E5E7EB"/>
                </a:solidFill>
              </a:rPr>
              <a:t>✓  Resume Score + ATS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5E7EB"/>
                </a:solidFill>
              </a:rPr>
              <a:t>✓  Cover Letter Top 1%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5E7EB"/>
                </a:solidFill>
              </a:rPr>
              <a:t>✓  Skills Gap + Certs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5E7EB"/>
                </a:solidFill>
              </a:rPr>
              <a:t>✓  Visa Pathways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5E7EB"/>
                </a:solidFill>
              </a:rPr>
              <a:t>✓  Salary Negotiation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5E7EB"/>
                </a:solidFill>
              </a:rPr>
              <a:t>✓  30-60-90 Action Plan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5E7EB"/>
                </a:solidFill>
              </a:rPr>
              <a:t>✓  + 14 more 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7607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59E0B"/>
                </a:solidFill>
              </a:rPr>
              <a:t>⏱ Under 15 seconds  ·  🔒 Zero data stored  ·  💰 100% Free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20 CAREER INTELLIGENCE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B5CF6"/>
                </a:solidFill>
              </a:rPr>
              <a:t>One analysis. Twenty expert outputs. In under 15 seconds.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25296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22529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Resume 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51790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ATS algorithm — 8 weighted dimensions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901952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938528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93852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Recruiter POV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23113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6-second hiring manager skim simulation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615184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651760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6517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Cover Letter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94436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Top-1% quality — quantified, specific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328415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364991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364991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Resume Rewrite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657599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Impact-first restructure + ATS audit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041648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078224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07822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Skills Gap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37083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Matched/missing + cert URLs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754880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4791456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79145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Interview Prep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08406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5 Q&amp;A sets — behavioral + technical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69080" y="1188720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60520" y="1225296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122529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STAR Stories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151790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3 metrics-driven behavioral examples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69080" y="1901952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60520" y="1938528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193852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LinkedIn Summary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0" y="223113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Search-optimized About section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069080" y="2615184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60520" y="2651760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09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26517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Intro Scripts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63440" y="294436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1, 2, 3-minute intros by level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069080" y="3328415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60520" y="3364991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63440" y="3364991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Matching Jobs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63440" y="3657599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Titles, companies, 7-country boards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069080" y="4041648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60520" y="4078224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11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63440" y="407822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Visa Pathways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63440" y="437083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All immigration routes + govt URLs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069080" y="4754880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60520" y="4791456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12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63440" y="479145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Thank You Email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63440" y="508406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Post-interview differentiator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63840" y="1188720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55280" y="1225296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13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58200" y="122529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Salary Negotiation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58200" y="151790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Market table + word-for-word scripts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863840" y="1901952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955280" y="1938528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14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58200" y="193852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Action Plan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58200" y="223113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30-60-90 day structured career plan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863840" y="2615184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955280" y="2651760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15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458200" y="26517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Cold Outreach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58200" y="294436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LinkedIn DM + cold email templates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63840" y="3328415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955280" y="3364991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16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58200" y="3364991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Career Pivot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58200" y="3657599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Adjacent roles + 90-day roadmap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863840" y="4041648"/>
            <a:ext cx="3566160" cy="6583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955280" y="4078224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20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458200" y="407822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Country Laws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458200" y="437083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Labor law + ATS compliance by country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</a:rPr>
              <a:t>+ Live Jobs  ·  ISCO-08 Similar Roles  ·  Top-1% Hiring Framework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AZURE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78D4"/>
                </a:solidFill>
              </a:rPr>
              <a:t>100% Microsoft Azure Cloud Ecosystem — rg-v3 · East US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11430000" cy="685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133856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USER BROWSER / PWA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44475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195 countries · Any device · Zero install · Progressive Web App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920240"/>
            <a:ext cx="11430000" cy="685800"/>
          </a:xfrm>
          <a:prstGeom prst="rect">
            <a:avLst/>
          </a:prstGeom>
          <a:solidFill>
            <a:srgbClr val="00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956816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STATIC FRONTEND — Served by Azure Functions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26771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Python 3.12 · index.html served from Azure Functions · GitHub Actions CI/CD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743200"/>
            <a:ext cx="11430000" cy="685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2779776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AZURE FUNCTIONS v2 — Python Serverless 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309067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POST /career  ·  POST /career  ·  POST /query  ·  POST /upload  ·  GET /location  ·  GET /health  ·  POST /simplify  ·  GET /occupations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566160"/>
            <a:ext cx="2651760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6118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Azure OpenAI
GPT-4o-mini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18795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Primary AI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3566160"/>
            <a:ext cx="2651760" cy="10972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36118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Azure AI Search
Semantic + Vector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418795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RAG Retrieval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3566160"/>
            <a:ext cx="2651760" cy="10972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36118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Azure Key Vault
RBAC + Secrets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18795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Security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2560" y="3566160"/>
            <a:ext cx="2651760" cy="10972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36118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Azure Content Safety
Output Moderation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418795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AI Safety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800600"/>
            <a:ext cx="5486400" cy="914400"/>
          </a:xfrm>
          <a:prstGeom prst="rect">
            <a:avLst/>
          </a:prstGeom>
          <a:solidFill>
            <a:srgbClr val="1A0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4828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</a:rPr>
              <a:t>RAG KNOWLEDGE ENGINE — 35 Files · 1M+ Tokens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513892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436 occupations · 195 countries · 900+ skills · Future jobs 2026–2125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4800600"/>
            <a:ext cx="5852160" cy="914400"/>
          </a:xfrm>
          <a:prstGeom prst="rect">
            <a:avLst/>
          </a:prstGeom>
          <a:solidFill>
            <a:srgbClr val="1A0A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2200" y="482803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</a:rPr>
              <a:t>4 PARALLEL AI CALLS — ThreadPoolExecutor · gpt-4o-mini · ~15 seconds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5138928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Call 1: Tools 1–4 · Call 2: Tools 5–8 · Call 3: Tools 9–14 · Call 4: Tools 15–20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</a:rPr>
              <a:t>GitHub Actions CI/CD  ·  Zero downtime deploy  ·  Auto-scale to millions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7607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TECHNOLOGY STACK — A TO 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2C55E"/>
                </a:solidFill>
              </a:rPr>
              <a:t>Every tool, platform, language, and service used to build Alfalah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3749039" cy="23774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3749039" cy="38404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2529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AZURE CLOUD (100%)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27632"/>
            <a:ext cx="35661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Static Web Apps · Functions v2 · OpenAI Service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AI Search · Key Vault · Content Safety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Entra ID B2C · Cosmos DB · Monitor / App Insights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188720"/>
            <a:ext cx="3749039" cy="23774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1188720"/>
            <a:ext cx="3749039" cy="38404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79" y="122529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AI &amp;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79" y="1627632"/>
            <a:ext cx="35661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GPT-4o-mini (Azure OpenAI) — 4 parallel calls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Custom RAG Engine — 99% structured 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188720"/>
            <a:ext cx="3749039" cy="23774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188720"/>
            <a:ext cx="3749039" cy="38404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22529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LANGUAGES &amp; RUNTIMES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627632"/>
            <a:ext cx="35661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Python 3.12 — Azure Functions v2 backend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HTML5 / CSS3 / Vanilla JS — Single-page frontend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Bash / PowerShell — Deployment scripts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749039"/>
            <a:ext cx="3749039" cy="23774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3749039"/>
            <a:ext cx="3749039" cy="3840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785615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DEV TOOLS &amp; 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187952"/>
            <a:ext cx="35661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Visual Studio Code — Primary IDE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Claude Code (Anthropic) — AI pair programmer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Azure Functions Core Tools v4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Postman — API testing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3749039"/>
            <a:ext cx="3749039" cy="23774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06240" y="3749039"/>
            <a:ext cx="3749039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79" y="3785615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FRAMEWORKS &amp; STANDARDS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4187952"/>
            <a:ext cx="35661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Azure Functions v2 (decorator model) · httpx · pydantic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pdfminer.six · pymupdf · python-docx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ISCO-08 (ILO) · ESCO · O*NET · NOC · SOC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Microsoft Responsible AI Standard v2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3749039"/>
            <a:ext cx="3749039" cy="23774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749039"/>
            <a:ext cx="3749039" cy="38404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3785615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DATA &amp; KNOWLEDGE BASE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187952"/>
            <a:ext cx="35661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35 structured Markdown knowledge files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436 ISCO-08 occupations · 195 country packages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900+ skills A-Z · Future occupations 2026–2125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Remotive API (Live Jobs) · ip-api.com (Geo)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RAG KNOWLEDGE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B5CF6"/>
                </a:solidFill>
              </a:rPr>
              <a:t>99% Structured Career Science · 1% Azure OpenAI Formatting · Zero Hallucination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</a:rPr>
              <a:t>What makes Alfalah AI different from every other AI career tool: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E5E7EB"/>
                </a:solidFill>
              </a:rPr>
              <a:t>▸  Every other AI career tool asks the LLM to guess — and LLMs hallucinate salary ranges, visa requirements, and labor laws.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5E7EB"/>
                </a:solidFill>
              </a:rPr>
              <a:t>▸  Alfalah AI retrieves structured facts first, THEN asks the LLM to format them into professional language.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5E7EB"/>
                </a:solidFill>
              </a:rPr>
              <a:t>▸  This means our salary data is correct. Our visa routes are accurate. Our labor laws are authoritative.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926080"/>
            <a:ext cx="1737360" cy="13716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944368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436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6118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ISCO-08
Occupations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2926080"/>
            <a:ext cx="1737360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2944368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195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6118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Country
Data Packages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2926080"/>
            <a:ext cx="1737360" cy="1371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2944368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900+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36118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Skills
A-Z Master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2926080"/>
            <a:ext cx="1737360" cy="13716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2944368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35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6118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Knowledge
Base Files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2926080"/>
            <a:ext cx="1737360" cy="1371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2944368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1M+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6118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Structured
Tokens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66960" y="2926080"/>
            <a:ext cx="1737360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66960" y="2944368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3,000+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36118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ESCO
Occupations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4805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8D4"/>
                </a:solidFill>
              </a:rPr>
              <a:t>SOURCES: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48056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ILO (ISCO-08)  ·  European Commission (ESCO)  ·  US Dept of Labor (O*NET)  ·  Statistics Canada (NOC)  ·  US BLS (SOC)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983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</a:rPr>
              <a:t>Azure AI Search — Semantic + Vector retrieval across all 35 files — top-k chunk retrieval per query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5577840"/>
            <a:ext cx="11430000" cy="7772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6235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1">
                <a:solidFill>
                  <a:srgbClr val="F59E0B"/>
                </a:solidFill>
              </a:rPr>
              <a:t>"We did not build an AI that guesses. We built an AI that knows."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828800"/>
            <a:ext cx="50292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RESPONSIBLE AI BY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2C55E"/>
                </a:solidFill>
              </a:rPr>
              <a:t>Microsoft Responsible AI Standard v2 · EU AI Act Aligned · GRC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5577840" cy="14630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577840" cy="3657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225296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FAIRNESS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60020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Analysis based solely on skills, experience, and role requirements.
No demographic inference. No bias by nationality, age, or gender.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188720"/>
            <a:ext cx="5577840" cy="14630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188720"/>
            <a:ext cx="5577840" cy="3657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225296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RELIABILITY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60020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Azure OpenAI gpt-4o-mini — 4 parallel calls.
Serverless auto-scaling. Azure SLA 99.95% uptime.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834640"/>
            <a:ext cx="5577840" cy="14630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834640"/>
            <a:ext cx="5577840" cy="3657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2871216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PRIVACY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324612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Zero data storage by architecture — not just policy.
No resume. No PII. No session data. Ever.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2834640"/>
            <a:ext cx="5577840" cy="14630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2834640"/>
            <a:ext cx="5577840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2871216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24612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Azure Key Vault · RBAC · Content Safety · TLS 1.3
Input sanitization · Rate limiting · 50KB body guard.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480560"/>
            <a:ext cx="5577840" cy="14630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4480560"/>
            <a:ext cx="557784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4517136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INCLUSIVENESS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79" y="48920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195 countries · 15 industries · Accessibility guides
for youth (5-18), seniors (55+), and people with disabilities.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4480560"/>
            <a:ext cx="5577840" cy="14630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0" y="4480560"/>
            <a:ext cx="557784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4517136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TRANSPARENCY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48920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ATS scoring dimensions disclosed to users.
RAG sources cited. Full methodology published in /docs/.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9E0B"/>
                </a:solidFill>
              </a:rPr>
              <a:t>Live: govrag-v3-func.azurewebsites.net  |  API: govrag-v3-func.azurewebsites.net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5669280" cy="1508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5669280" cy="34747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27101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1 — SPLASH SCREEN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618488"/>
            <a:ext cx="54864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Show the 5-phase smart splash: IP auto-detection → country confirmed → industry selected.
Point out: 195-country coverage, zero login required.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926080"/>
            <a:ext cx="5669280" cy="1508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926080"/>
            <a:ext cx="5669280" cy="3474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296265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2 — UPLOAD RESUME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3310128"/>
            <a:ext cx="54864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Paste or upload a sample resume. Show PDF/DOCX/TXT support.
Explain: extracted in memory — never written to disk.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617720"/>
            <a:ext cx="5669280" cy="1508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4617720"/>
            <a:ext cx="5669280" cy="3474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465429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3 — AI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5001768"/>
            <a:ext cx="54864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Click Analyze. Show the 15-second loading state.
Explain the RAG pipeline running: 4 parallel Azure OpenAI calls via ThreadPoolExecutor.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234440"/>
            <a:ext cx="5669280" cy="1508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234440"/>
            <a:ext cx="5669280" cy="34747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27101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4 — 20 MODULES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1618488"/>
            <a:ext cx="54864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Scroll through the results dashboard. Highlight:
• Resume Score with 8 weighted dimensions
• Recruiter POV — 6-second simulation
• Visa Pathways — show for a cross-country example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926080"/>
            <a:ext cx="5669280" cy="1508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2926080"/>
            <a:ext cx="566928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27648" y="296265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5 — COUNTRY AWARENESS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3310128"/>
            <a:ext cx="54864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Change country. Show how salary data changes to local currency.
Show how visa pathways change. This is the differentiator.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617720"/>
            <a:ext cx="5669280" cy="1508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4617720"/>
            <a:ext cx="5669280" cy="3474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27648" y="465429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 6 — LIVE JOBS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5001768"/>
            <a:ext cx="548640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Scroll to live job postings — real listings from Remotive API, last 7 days, country-filtered.</a:t>
            </a:r>
          </a:p>
        </p:txBody>
      </p:sp>
      <p:pic>
        <p:nvPicPr>
          <p:cNvPr id="29" name="Picture 28" descr="screencapture-govrag-v3-func-azurewebsites-net-2026-03-26-16_24_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371600"/>
            <a:ext cx="53035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GLOBAL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6B35"/>
                </a:solidFill>
              </a:rPr>
              <a:t>Who benefits. How. Why it matters for humanity.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5577840" cy="20116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26187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</a:rPr>
              <a:t>🇵🇰 FATIMA, 24 — LAHORE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691640"/>
            <a:ext cx="5303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Computer Science graduate. Zero career guidance available locally.
Alfalah AI gives her a top-1% resume, a Canadian work visa pathway,
and a salary negotiation script — in 30 seconds. Free.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188720"/>
            <a:ext cx="5577840" cy="20116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26187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</a:rPr>
              <a:t>🇳🇬 CHUKWU, 31 — LAGOS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91640"/>
            <a:ext cx="5303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Mechanical engineer. Rejected 40 times. Does not know why.
Alfalah AI shows him ATS rejection reasons, rewrites his resume
with impact-first bullets, and identifies 3 certifications he needs.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383280"/>
            <a:ext cx="5577840" cy="20116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345643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</a:rPr>
              <a:t>🇮🇳 PRIYA, 45 — BANGALORE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3886200"/>
            <a:ext cx="5303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15 years experience. Wants to pivot to data science.
Alfalah AI gives her a pivot score, adjacent role roadmap,
and a 90-day transition plan with specific upskilling milestones.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3383280"/>
            <a:ext cx="5577840" cy="20116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345643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</a:rPr>
              <a:t>🇿🇦 SIPHO, 58 — JOHANNESBURG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3886200"/>
            <a:ext cx="5303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Lost job in restructuring. 55+ re-entry is brutal.
Alfalah AI has a specific seniors career guide, identifies transferable
skills, and generates cold outreach templates for his network.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52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1">
                <a:solidFill>
                  <a:srgbClr val="F59E0B"/>
                </a:solidFill>
              </a:rPr>
              <a:t>These are not hypothetical users. These are the 8 billion people this platform was built to serve.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WHY MICROSOFT AZURE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78D4"/>
                </a:solidFill>
              </a:rPr>
              <a:t>Not just cloud infrastructure. A values-aligned partnership.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5577840" cy="148132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164592" cy="148132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6187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8D4"/>
                </a:solidFill>
              </a:rPr>
              <a:t>AI FOR GOOD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27632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Microsoft's AI for Good initiative aligns perfectly with our mission.
Azure enables free-tier infrastructure that makes a truly free global platform possible.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188720"/>
            <a:ext cx="5577840" cy="148132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188720"/>
            <a:ext cx="164592" cy="14813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26187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</a:rPr>
              <a:t>GLOBAL PRESENCE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627632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Azure has 60+ regions globally — our users in 195 countries get
low-latency performance from their nearest Azure edge node.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834640"/>
            <a:ext cx="5577840" cy="148132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834640"/>
            <a:ext cx="164592" cy="14813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90779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</a:rPr>
              <a:t>RESPONSIBLE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273552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Azure Content Safety, Key Vault, RBAC, and the Responsible AI Standard v2
gave us enterprise-grade trust infrastructure for a free public platform.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2834640"/>
            <a:ext cx="5577840" cy="148132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2834640"/>
            <a:ext cx="164592" cy="14813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90779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</a:rPr>
              <a:t>INTEGRATED AI STACK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273552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Azure OpenAI + AI Search + Content Safety are deeply integrated.
No glue code between providers. One identity, one billing, one audit trail.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480560"/>
            <a:ext cx="5577840" cy="148132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4480560"/>
            <a:ext cx="164592" cy="14813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55371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COMPLIANCE READY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919472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Azure's compliance certifications — SOC2, ISO27001, GDPR, HIPAA —
mean our platform is enterprise-compliant from day one.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4480560"/>
            <a:ext cx="5577840" cy="148132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0" y="4480560"/>
            <a:ext cx="164592" cy="14813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455371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</a:rPr>
              <a:t>HACKATHON ALIGNMENT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919472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This project demonstrates the full Azure AI ecosystem in production:
Static Web Apps + Functions + OpenAI + AI Search + Key Vault = one cohesive solution.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B5CF6"/>
                </a:solidFill>
              </a:rPr>
              <a:t>Where we have been. Where we are going. What comes next.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2148840" cy="50292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2148840" cy="457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0700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V1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25272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Mar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642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</a:rPr>
              <a:t>COMPLETE 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011680"/>
            <a:ext cx="2011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12 AI career modules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Resume analysis + ATS scoring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Deployed live on Vercel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Submitted H1 Hackathon ($6K)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06039" y="1188720"/>
            <a:ext cx="2148840" cy="50292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06039" y="1188720"/>
            <a:ext cx="2148840" cy="457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79" y="120700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V2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39" y="125272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Mar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79" y="16642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</a:rPr>
              <a:t>COMPLETE 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79" y="2011680"/>
            <a:ext cx="2011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20 modules + RAG engine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195 countries + industry awareness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4 parallel Azure OpenAI calls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PWA mobile-ready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7759" y="1188720"/>
            <a:ext cx="2148840" cy="50292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37759" y="1188720"/>
            <a:ext cx="214884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199" y="120700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V3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59" y="125272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Mar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199" y="16642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COMPLETE 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199" y="2011680"/>
            <a:ext cx="2011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100% Azure cloud ecosystem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Python Functions backend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AI Search + Key Vault + GRC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Deployed: govrag-v3-func.azurewebsites.net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69479" y="1188720"/>
            <a:ext cx="2148840" cy="50292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69479" y="1188720"/>
            <a:ext cx="2148840" cy="4572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60919" y="120700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V4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79" y="125272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2026 Q3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19" y="16642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8D4"/>
                </a:solidFill>
              </a:rPr>
              <a:t>PLANNED 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19" y="2011680"/>
            <a:ext cx="2011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React Native mobile app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Cosmos DB for analytics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Multi-language (40+ languages)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Voice input + accessibility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01200" y="1188720"/>
            <a:ext cx="2148840" cy="50292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01200" y="1188720"/>
            <a:ext cx="2148840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0" y="120700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V5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125272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2026 Q4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16642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</a:rPr>
              <a:t>PLANNED 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2011680"/>
            <a:ext cx="2011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alfalah.app domain live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Azure Marketplace listing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Enterprise API tier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E5E7EB"/>
                </a:solidFill>
              </a:rPr>
              <a:t>·  1 million users target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989320"/>
            <a:ext cx="11430000" cy="5943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0350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</a:rPr>
              <a:t>Next: React Native mobile app · alfalah.app domain · Azure Marketplace listing · 40-language global rollout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COMMUNITY CONTRIBUTION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1">
                <a:solidFill>
                  <a:srgbClr val="F59E0B"/>
                </a:solidFill>
              </a:rPr>
              <a:t>"Built for humanity. Open source. Free forever."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737360"/>
            <a:ext cx="11155680" cy="9601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737360"/>
            <a:ext cx="182880" cy="9601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0136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8D4"/>
                </a:solidFill>
              </a:rPr>
              <a:t>OPEN SOURCE — MIT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828800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Full source code at github.com/shahzadms7/v3 — fork it, learn from it, build on it.
Any developer anywhere can extend this platform for their community.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816352"/>
            <a:ext cx="11155680" cy="9601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816352"/>
            <a:ext cx="182880" cy="9601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88036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</a:rPr>
              <a:t>FREE FOREVER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907792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No subscription. No login. No paywall. No data harvested.
Every feature available to every professional in every country, at zero cost.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895344"/>
            <a:ext cx="11155680" cy="9601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895344"/>
            <a:ext cx="182880" cy="9601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95935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</a:rPr>
              <a:t>AZURE ECOSYSTEM SHOWCASE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3986783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A production reference architecture for Azure Static Web Apps + Functions + OpenAI +
AI Search + Key Vault + Content Safety — all working together at real scale.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974336"/>
            <a:ext cx="11155680" cy="9601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4974336"/>
            <a:ext cx="182880" cy="9601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03834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</a:rPr>
              <a:t>RESPONSIBLE AI IN PRACTICE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5065775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Microsoft Responsible AI Standard v2 implemented end-to-end.
Zero hallucination via RAG grounding. Privacy by architecture. GRC compliance framework.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807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</a:rPr>
              <a:t>govrag-v3-func.azurewebsites.net/api/health  ·  github.com/shahzadms7/v3  ·  govrag-v3-func.azurewebsites.net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914400"/>
            <a:ext cx="121889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59E0B"/>
                </a:solidFill>
              </a:rPr>
              <a:t>الفلاح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19456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1">
                <a:solidFill>
                  <a:srgbClr val="FFFFFF"/>
                </a:solidFill>
              </a:rPr>
              <a:t>Come to Success.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78892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78D4"/>
                </a:solidFill>
              </a:rPr>
              <a:t>For every human on Earth.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3474720"/>
            <a:ext cx="6702552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361188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ALFALAH JOB CAREER INTELLIGENT AI  2026  V3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25196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5E7EB"/>
                </a:solidFill>
              </a:rPr>
              <a:t>Platform: govrag-v3-func.azurewebsites.net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4636008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5E7EB"/>
                </a:solidFill>
              </a:rPr>
              <a:t>API: govrag-v3-func.azurewebsites.net/api/health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020056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5E7EB"/>
                </a:solidFill>
              </a:rPr>
              <a:t>Source: github.com/shahzadms7/v3  |  Architecture: ARCHITECTURE.md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4864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</a:rPr>
              <a:t>Shahzad Muhammad  ·  Mississauga, Ontario, Canada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585216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</a:rPr>
              <a:t>Built on Microsoft Azure  ·  Free Forever  ·  Open Source MIT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SYSTEM ARCHITECTURE — End-to-End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78D4"/>
                </a:solidFill>
              </a:rPr>
              <a:t>Alfalah Job Career Intelligent AI 2026 V3  ·  100% Microsoft Azure  ·  govrag-v3-func.azurewebsites.net</a:t>
            </a:r>
          </a:p>
        </p:txBody>
      </p:sp>
      <p:pic>
        <p:nvPicPr>
          <p:cNvPr id="5" name="Picture 4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914400"/>
            <a:ext cx="11887200" cy="5760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